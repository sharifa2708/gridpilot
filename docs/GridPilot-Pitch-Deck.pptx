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81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6" r:id="rId15"/>
    <p:sldId id="278" r:id="rId16"/>
    <p:sldId id="279" r:id="rId17"/>
    <p:sldId id="280" r:id="rId18"/>
    <p:sldId id="277" r:id="rId19"/>
    <p:sldId id="274" r:id="rId20"/>
    <p:sldId id="271" r:id="rId21"/>
    <p:sldId id="273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19C97E3-E4A1-908B-B7A5-4EFD6326376E}">
          <p14:sldIdLst>
            <p14:sldId id="256"/>
          </p14:sldIdLst>
        </p14:section>
        <p14:section name="Today and the pain" id="{29708E38-FEF7-4F0C-83A5-0243FFD034D0}">
          <p14:sldIdLst>
            <p14:sldId id="281"/>
          </p14:sldIdLst>
        </p14:section>
        <p14:section name="The solution" id="{C2487808-B7DA-0FB0-753F-0C7E5A17D5DF}">
          <p14:sldIdLst>
            <p14:sldId id="260"/>
            <p14:sldId id="261"/>
            <p14:sldId id="262"/>
          </p14:sldIdLst>
        </p14:section>
        <p14:section name="Priority order" id="{C1239567-6161-19C3-F30A-0116FA51EDE7}">
          <p14:sldIdLst>
            <p14:sldId id="263"/>
            <p14:sldId id="264"/>
          </p14:sldIdLst>
        </p14:section>
        <p14:section name="Shortage handling" id="{2A2E2126-F3DE-C71F-47B6-F253B7737818}">
          <p14:sldIdLst>
            <p14:sldId id="265"/>
            <p14:sldId id="266"/>
          </p14:sldIdLst>
        </p14:section>
        <p14:section name="Market and planning" id="{2FDCD90C-C8A2-55ED-CCE6-11659885DC6C}">
          <p14:sldIdLst>
            <p14:sldId id="267"/>
            <p14:sldId id="268"/>
          </p14:sldIdLst>
        </p14:section>
        <p14:section name="Stress and trust" id="{DBFD09E8-DCD4-394C-90BE-EC1A1F6817B1}">
          <p14:sldIdLst>
            <p14:sldId id="269"/>
            <p14:sldId id="270"/>
          </p14:sldIdLst>
        </p14:section>
        <p14:section name="AI and architecture" id="{F5261BF8-3AC3-4241-B894-422157C568E7}">
          <p14:sldIdLst>
            <p14:sldId id="276"/>
            <p14:sldId id="278"/>
          </p14:sldIdLst>
        </p14:section>
        <p14:section name="Business impact &amp; scalability" id="{C8A85223-FB1F-4897-84D5-041982D237CD}">
          <p14:sldIdLst>
            <p14:sldId id="279"/>
            <p14:sldId id="280"/>
            <p14:sldId id="277"/>
          </p14:sldIdLst>
        </p14:section>
        <p14:section name="Appendix" id="{B2ECBAA4-7C22-4385-6740-774817ADC165}">
          <p14:sldIdLst>
            <p14:sldId id="274"/>
            <p14:sldId id="271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VANGI SINGH" userId="939b2b26c89eb545" providerId="LiveId" clId="{94EE08E7-D78F-43C2-A377-4A3C125C2440}"/>
    <pc:docChg chg="undo custSel addSld delSld modSld sldOrd addSection delSection modSection">
      <pc:chgData name="SHIVANGI SINGH" userId="939b2b26c89eb545" providerId="LiveId" clId="{94EE08E7-D78F-43C2-A377-4A3C125C2440}" dt="2026-10-11T11:39:13.010" v="134" actId="1035"/>
      <pc:docMkLst>
        <pc:docMk/>
      </pc:docMkLst>
      <pc:sldChg chg="addSp modSp">
        <pc:chgData name="SHIVANGI SINGH" userId="939b2b26c89eb545" providerId="LiveId" clId="{94EE08E7-D78F-43C2-A377-4A3C125C2440}" dt="2026-10-11T11:25:27.746" v="0"/>
        <pc:sldMkLst>
          <pc:docMk/>
          <pc:sldMk cId="0" sldId="256"/>
        </pc:sldMkLst>
        <pc:spChg chg="add mod">
          <ac:chgData name="SHIVANGI SINGH" userId="939b2b26c89eb545" providerId="LiveId" clId="{94EE08E7-D78F-43C2-A377-4A3C125C2440}" dt="2026-10-11T11:25:27.746" v="0"/>
          <ac:spMkLst>
            <pc:docMk/>
            <pc:sldMk cId="0" sldId="256"/>
            <ac:spMk id="14" creationId="{35A8A60B-EBF0-FE37-EC45-4FB964A7E44F}"/>
          </ac:spMkLst>
        </pc:spChg>
      </pc:sldChg>
      <pc:sldChg chg="del">
        <pc:chgData name="SHIVANGI SINGH" userId="939b2b26c89eb545" providerId="LiveId" clId="{94EE08E7-D78F-43C2-A377-4A3C125C2440}" dt="2026-10-11T11:26:05.496" v="1" actId="47"/>
        <pc:sldMkLst>
          <pc:docMk/>
          <pc:sldMk cId="0" sldId="257"/>
        </pc:sldMkLst>
      </pc:sldChg>
      <pc:sldChg chg="del">
        <pc:chgData name="SHIVANGI SINGH" userId="939b2b26c89eb545" providerId="LiveId" clId="{94EE08E7-D78F-43C2-A377-4A3C125C2440}" dt="2026-10-11T11:28:54.757" v="13" actId="47"/>
        <pc:sldMkLst>
          <pc:docMk/>
          <pc:sldMk cId="0" sldId="258"/>
        </pc:sldMkLst>
      </pc:sldChg>
      <pc:sldChg chg="del">
        <pc:chgData name="SHIVANGI SINGH" userId="939b2b26c89eb545" providerId="LiveId" clId="{94EE08E7-D78F-43C2-A377-4A3C125C2440}" dt="2026-10-11T11:28:55.188" v="14" actId="47"/>
        <pc:sldMkLst>
          <pc:docMk/>
          <pc:sldMk cId="0" sldId="259"/>
        </pc:sldMkLst>
      </pc:sldChg>
      <pc:sldChg chg="ord">
        <pc:chgData name="SHIVANGI SINGH" userId="939b2b26c89eb545" providerId="LiveId" clId="{94EE08E7-D78F-43C2-A377-4A3C125C2440}" dt="2026-10-11T11:34:56.184" v="52"/>
        <pc:sldMkLst>
          <pc:docMk/>
          <pc:sldMk cId="0" sldId="271"/>
        </pc:sldMkLst>
      </pc:sldChg>
      <pc:sldChg chg="del">
        <pc:chgData name="SHIVANGI SINGH" userId="939b2b26c89eb545" providerId="LiveId" clId="{94EE08E7-D78F-43C2-A377-4A3C125C2440}" dt="2026-10-11T11:26:52.571" v="2" actId="47"/>
        <pc:sldMkLst>
          <pc:docMk/>
          <pc:sldMk cId="0" sldId="272"/>
        </pc:sldMkLst>
      </pc:sldChg>
      <pc:sldChg chg="add del ord">
        <pc:chgData name="SHIVANGI SINGH" userId="939b2b26c89eb545" providerId="LiveId" clId="{94EE08E7-D78F-43C2-A377-4A3C125C2440}" dt="2026-10-11T11:34:56.184" v="52"/>
        <pc:sldMkLst>
          <pc:docMk/>
          <pc:sldMk cId="0" sldId="273"/>
        </pc:sldMkLst>
      </pc:sldChg>
      <pc:sldChg chg="del">
        <pc:chgData name="SHIVANGI SINGH" userId="939b2b26c89eb545" providerId="LiveId" clId="{94EE08E7-D78F-43C2-A377-4A3C125C2440}" dt="2026-10-11T11:31:37.459" v="18" actId="47"/>
        <pc:sldMkLst>
          <pc:docMk/>
          <pc:sldMk cId="0" sldId="275"/>
        </pc:sldMkLst>
      </pc:sldChg>
      <pc:sldChg chg="ord">
        <pc:chgData name="SHIVANGI SINGH" userId="939b2b26c89eb545" providerId="LiveId" clId="{94EE08E7-D78F-43C2-A377-4A3C125C2440}" dt="2026-10-11T11:27:16.502" v="7"/>
        <pc:sldMkLst>
          <pc:docMk/>
          <pc:sldMk cId="0" sldId="276"/>
        </pc:sldMkLst>
      </pc:sldChg>
      <pc:sldChg chg="addSp delSp modSp mod ord">
        <pc:chgData name="SHIVANGI SINGH" userId="939b2b26c89eb545" providerId="LiveId" clId="{94EE08E7-D78F-43C2-A377-4A3C125C2440}" dt="2026-10-11T11:39:13.010" v="134" actId="1035"/>
        <pc:sldMkLst>
          <pc:docMk/>
          <pc:sldMk cId="0" sldId="277"/>
        </pc:sldMkLst>
        <pc:spChg chg="mod">
          <ac:chgData name="SHIVANGI SINGH" userId="939b2b26c89eb545" providerId="LiveId" clId="{94EE08E7-D78F-43C2-A377-4A3C125C2440}" dt="2026-10-11T11:38:46.856" v="91" actId="20577"/>
          <ac:spMkLst>
            <pc:docMk/>
            <pc:sldMk cId="0" sldId="277"/>
            <ac:spMk id="2" creationId="{00000000-0000-0000-0000-000000000000}"/>
          </ac:spMkLst>
        </pc:spChg>
        <pc:spChg chg="mod">
          <ac:chgData name="SHIVANGI SINGH" userId="939b2b26c89eb545" providerId="LiveId" clId="{94EE08E7-D78F-43C2-A377-4A3C125C2440}" dt="2026-10-11T11:38:59.911" v="99" actId="1036"/>
          <ac:spMkLst>
            <pc:docMk/>
            <pc:sldMk cId="0" sldId="277"/>
            <ac:spMk id="3" creationId="{00000000-0000-0000-0000-000000000000}"/>
          </ac:spMkLst>
        </pc:spChg>
        <pc:spChg chg="mod">
          <ac:chgData name="SHIVANGI SINGH" userId="939b2b26c89eb545" providerId="LiveId" clId="{94EE08E7-D78F-43C2-A377-4A3C125C2440}" dt="2026-10-11T11:39:13.010" v="134" actId="1035"/>
          <ac:spMkLst>
            <pc:docMk/>
            <pc:sldMk cId="0" sldId="277"/>
            <ac:spMk id="4" creationId="{00000000-0000-0000-0000-000000000000}"/>
          </ac:spMkLst>
        </pc:spChg>
        <pc:spChg chg="mod">
          <ac:chgData name="SHIVANGI SINGH" userId="939b2b26c89eb545" providerId="LiveId" clId="{94EE08E7-D78F-43C2-A377-4A3C125C2440}" dt="2026-10-11T11:39:13.010" v="134" actId="1035"/>
          <ac:spMkLst>
            <pc:docMk/>
            <pc:sldMk cId="0" sldId="277"/>
            <ac:spMk id="5" creationId="{00000000-0000-0000-0000-000000000000}"/>
          </ac:spMkLst>
        </pc:spChg>
        <pc:spChg chg="mod">
          <ac:chgData name="SHIVANGI SINGH" userId="939b2b26c89eb545" providerId="LiveId" clId="{94EE08E7-D78F-43C2-A377-4A3C125C2440}" dt="2026-10-11T11:39:13.010" v="134" actId="1035"/>
          <ac:spMkLst>
            <pc:docMk/>
            <pc:sldMk cId="0" sldId="277"/>
            <ac:spMk id="6" creationId="{00000000-0000-0000-0000-000000000000}"/>
          </ac:spMkLst>
        </pc:spChg>
        <pc:spChg chg="mod">
          <ac:chgData name="SHIVANGI SINGH" userId="939b2b26c89eb545" providerId="LiveId" clId="{94EE08E7-D78F-43C2-A377-4A3C125C2440}" dt="2026-10-11T11:39:13.010" v="134" actId="1035"/>
          <ac:spMkLst>
            <pc:docMk/>
            <pc:sldMk cId="0" sldId="277"/>
            <ac:spMk id="7" creationId="{00000000-0000-0000-0000-000000000000}"/>
          </ac:spMkLst>
        </pc:spChg>
        <pc:spChg chg="add del mod">
          <ac:chgData name="SHIVANGI SINGH" userId="939b2b26c89eb545" providerId="LiveId" clId="{94EE08E7-D78F-43C2-A377-4A3C125C2440}" dt="2026-10-11T11:38:40.815" v="81" actId="478"/>
          <ac:spMkLst>
            <pc:docMk/>
            <pc:sldMk cId="0" sldId="277"/>
            <ac:spMk id="10" creationId="{98FA16E6-86BF-EC0F-E32E-CD31536119B6}"/>
          </ac:spMkLst>
        </pc:spChg>
      </pc:sldChg>
      <pc:sldChg chg="add">
        <pc:chgData name="SHIVANGI SINGH" userId="939b2b26c89eb545" providerId="LiveId" clId="{94EE08E7-D78F-43C2-A377-4A3C125C2440}" dt="2026-10-11T11:27:12.523" v="5"/>
        <pc:sldMkLst>
          <pc:docMk/>
          <pc:sldMk cId="0" sldId="278"/>
        </pc:sldMkLst>
      </pc:sldChg>
      <pc:sldChg chg="add ord">
        <pc:chgData name="SHIVANGI SINGH" userId="939b2b26c89eb545" providerId="LiveId" clId="{94EE08E7-D78F-43C2-A377-4A3C125C2440}" dt="2026-10-11T11:28:09.734" v="10"/>
        <pc:sldMkLst>
          <pc:docMk/>
          <pc:sldMk cId="0" sldId="279"/>
        </pc:sldMkLst>
      </pc:sldChg>
      <pc:sldChg chg="add">
        <pc:chgData name="SHIVANGI SINGH" userId="939b2b26c89eb545" providerId="LiveId" clId="{94EE08E7-D78F-43C2-A377-4A3C125C2440}" dt="2026-10-11T11:28:28.435" v="11"/>
        <pc:sldMkLst>
          <pc:docMk/>
          <pc:sldMk cId="0" sldId="280"/>
        </pc:sldMkLst>
      </pc:sldChg>
      <pc:sldChg chg="add">
        <pc:chgData name="SHIVANGI SINGH" userId="939b2b26c89eb545" providerId="LiveId" clId="{94EE08E7-D78F-43C2-A377-4A3C125C2440}" dt="2026-10-11T11:28:49.883" v="12"/>
        <pc:sldMkLst>
          <pc:docMk/>
          <pc:sldMk cId="0" sldId="281"/>
        </pc:sldMkLst>
      </pc:sldChg>
      <pc:sldChg chg="addSp modSp new del mod">
        <pc:chgData name="SHIVANGI SINGH" userId="939b2b26c89eb545" providerId="LiveId" clId="{94EE08E7-D78F-43C2-A377-4A3C125C2440}" dt="2026-10-11T11:34:22.148" v="49" actId="47"/>
        <pc:sldMkLst>
          <pc:docMk/>
          <pc:sldMk cId="1149378857" sldId="282"/>
        </pc:sldMkLst>
        <pc:spChg chg="mod">
          <ac:chgData name="SHIVANGI SINGH" userId="939b2b26c89eb545" providerId="LiveId" clId="{94EE08E7-D78F-43C2-A377-4A3C125C2440}" dt="2026-10-11T11:33:43.401" v="38" actId="20577"/>
          <ac:spMkLst>
            <pc:docMk/>
            <pc:sldMk cId="1149378857" sldId="282"/>
            <ac:spMk id="2" creationId="{C9687880-7F36-161C-D597-2FFBD321F0AB}"/>
          </ac:spMkLst>
        </pc:spChg>
        <pc:picChg chg="add mod">
          <ac:chgData name="SHIVANGI SINGH" userId="939b2b26c89eb545" providerId="LiveId" clId="{94EE08E7-D78F-43C2-A377-4A3C125C2440}" dt="2026-10-11T11:34:10.277" v="46" actId="1036"/>
          <ac:picMkLst>
            <pc:docMk/>
            <pc:sldMk cId="1149378857" sldId="282"/>
            <ac:picMk id="4" creationId="{3B986BF6-67F6-B4D3-9B97-1C7519D1AF2A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DSM cost (₹k per block)</c:v>
                </c:pt>
              </c:strCache>
            </c:strRef>
          </c:tx>
          <c:spPr>
            <a:solidFill>
              <a:srgbClr val="F0605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FBF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531-47B1-8482-307DCF2BB87B}"/>
              </c:ext>
            </c:extLst>
          </c:dPt>
          <c:dPt>
            <c:idx val="1"/>
            <c:invertIfNegative val="0"/>
            <c:bubble3D val="0"/>
            <c:spPr>
              <a:solidFill>
                <a:srgbClr val="2FBF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531-47B1-8482-307DCF2BB87B}"/>
              </c:ext>
            </c:extLst>
          </c:dPt>
          <c:dPt>
            <c:idx val="2"/>
            <c:invertIfNegative val="0"/>
            <c:bubble3D val="0"/>
            <c:spPr>
              <a:solidFill>
                <a:srgbClr val="2FBF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531-47B1-8482-307DCF2BB87B}"/>
              </c:ext>
            </c:extLst>
          </c:dPt>
          <c:dPt>
            <c:idx val="3"/>
            <c:invertIfNegative val="0"/>
            <c:bubble3D val="0"/>
            <c:spPr>
              <a:solidFill>
                <a:srgbClr val="2FBF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531-47B1-8482-307DCF2BB87B}"/>
              </c:ext>
            </c:extLst>
          </c:dPt>
          <c:dPt>
            <c:idx val="4"/>
            <c:invertIfNegative val="0"/>
            <c:bubble3D val="0"/>
            <c:spPr>
              <a:solidFill>
                <a:srgbClr val="2FBF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531-47B1-8482-307DCF2BB87B}"/>
              </c:ext>
            </c:extLst>
          </c:dPt>
          <c:dPt>
            <c:idx val="5"/>
            <c:invertIfNegative val="0"/>
            <c:bubble3D val="0"/>
            <c:spPr>
              <a:solidFill>
                <a:srgbClr val="2FBF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531-47B1-8482-307DCF2BB87B}"/>
              </c:ext>
            </c:extLst>
          </c:dPt>
          <c:dPt>
            <c:idx val="6"/>
            <c:invertIfNegative val="0"/>
            <c:bubble3D val="0"/>
            <c:spPr>
              <a:solidFill>
                <a:srgbClr val="2FBF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531-47B1-8482-307DCF2BB87B}"/>
              </c:ext>
            </c:extLst>
          </c:dPt>
          <c:dPt>
            <c:idx val="7"/>
            <c:invertIfNegative val="0"/>
            <c:bubble3D val="0"/>
            <c:spPr>
              <a:solidFill>
                <a:srgbClr val="2FBF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531-47B1-8482-307DCF2BB87B}"/>
              </c:ext>
            </c:extLst>
          </c:dPt>
          <c:dPt>
            <c:idx val="8"/>
            <c:invertIfNegative val="0"/>
            <c:bubble3D val="0"/>
            <c:spPr>
              <a:solidFill>
                <a:srgbClr val="2FBF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E531-47B1-8482-307DCF2BB87B}"/>
              </c:ext>
            </c:extLst>
          </c:dPt>
          <c:dPt>
            <c:idx val="9"/>
            <c:invertIfNegative val="0"/>
            <c:bubble3D val="0"/>
            <c:spPr>
              <a:solidFill>
                <a:srgbClr val="2FBF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E531-47B1-8482-307DCF2BB87B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E531-47B1-8482-307DCF2BB87B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E531-47B1-8482-307DCF2BB87B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9-E531-47B1-8482-307DCF2BB87B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B-E531-47B1-8482-307DCF2BB87B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D-E531-47B1-8482-307DCF2BB87B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E531-47B1-8482-307DCF2BB87B}"/>
              </c:ext>
            </c:extLst>
          </c:dPt>
          <c:dPt>
            <c:idx val="1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1-E531-47B1-8482-307DCF2BB87B}"/>
              </c:ext>
            </c:extLst>
          </c:dPt>
          <c:dPt>
            <c:idx val="1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3-E531-47B1-8482-307DCF2BB87B}"/>
              </c:ext>
            </c:extLst>
          </c:dPt>
          <c:dPt>
            <c:idx val="1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5-E531-47B1-8482-307DCF2BB87B}"/>
              </c:ext>
            </c:extLst>
          </c:dPt>
          <c:dPt>
            <c:idx val="1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7-E531-47B1-8482-307DCF2BB87B}"/>
              </c:ext>
            </c:extLst>
          </c:dPt>
          <c:dPt>
            <c:idx val="2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9-E531-47B1-8482-307DCF2BB87B}"/>
              </c:ext>
            </c:extLst>
          </c:dPt>
          <c:cat>
            <c:strRef>
              <c:f>Sheet1!$A$2:$A$22</c:f>
              <c:strCache>
                <c:ptCount val="21"/>
                <c:pt idx="0">
                  <c:v>-100</c:v>
                </c:pt>
                <c:pt idx="1">
                  <c:v>-90</c:v>
                </c:pt>
                <c:pt idx="2">
                  <c:v>-80</c:v>
                </c:pt>
                <c:pt idx="3">
                  <c:v>-70</c:v>
                </c:pt>
                <c:pt idx="4">
                  <c:v>-60</c:v>
                </c:pt>
                <c:pt idx="5">
                  <c:v>-50</c:v>
                </c:pt>
                <c:pt idx="6">
                  <c:v>-40</c:v>
                </c:pt>
                <c:pt idx="7">
                  <c:v>-30</c:v>
                </c:pt>
                <c:pt idx="8">
                  <c:v>-20</c:v>
                </c:pt>
                <c:pt idx="9">
                  <c:v>-10</c:v>
                </c:pt>
                <c:pt idx="10">
                  <c:v>0</c:v>
                </c:pt>
                <c:pt idx="11">
                  <c:v>10</c:v>
                </c:pt>
                <c:pt idx="12">
                  <c:v>20</c:v>
                </c:pt>
                <c:pt idx="13">
                  <c:v>30</c:v>
                </c:pt>
                <c:pt idx="14">
                  <c:v>40</c:v>
                </c:pt>
                <c:pt idx="15">
                  <c:v>50</c:v>
                </c:pt>
                <c:pt idx="16">
                  <c:v>60</c:v>
                </c:pt>
                <c:pt idx="17">
                  <c:v>70</c:v>
                </c:pt>
                <c:pt idx="18">
                  <c:v>80</c:v>
                </c:pt>
                <c:pt idx="19">
                  <c:v>90</c:v>
                </c:pt>
                <c:pt idx="20">
                  <c:v>100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-27</c:v>
                </c:pt>
                <c:pt idx="1">
                  <c:v>-27</c:v>
                </c:pt>
                <c:pt idx="2">
                  <c:v>-27</c:v>
                </c:pt>
                <c:pt idx="3">
                  <c:v>-27</c:v>
                </c:pt>
                <c:pt idx="4">
                  <c:v>-27</c:v>
                </c:pt>
                <c:pt idx="5">
                  <c:v>-27</c:v>
                </c:pt>
                <c:pt idx="6">
                  <c:v>-27</c:v>
                </c:pt>
                <c:pt idx="7">
                  <c:v>-27</c:v>
                </c:pt>
                <c:pt idx="8">
                  <c:v>-27</c:v>
                </c:pt>
                <c:pt idx="9">
                  <c:v>-13.5</c:v>
                </c:pt>
                <c:pt idx="10">
                  <c:v>0</c:v>
                </c:pt>
                <c:pt idx="11">
                  <c:v>15</c:v>
                </c:pt>
                <c:pt idx="12">
                  <c:v>30</c:v>
                </c:pt>
                <c:pt idx="13">
                  <c:v>48</c:v>
                </c:pt>
                <c:pt idx="14">
                  <c:v>70.5</c:v>
                </c:pt>
                <c:pt idx="15">
                  <c:v>93</c:v>
                </c:pt>
                <c:pt idx="16">
                  <c:v>115.5</c:v>
                </c:pt>
                <c:pt idx="17">
                  <c:v>138</c:v>
                </c:pt>
                <c:pt idx="18">
                  <c:v>160.5</c:v>
                </c:pt>
                <c:pt idx="19">
                  <c:v>183</c:v>
                </c:pt>
                <c:pt idx="20">
                  <c:v>205.5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E531-47B1-8482-307DCF2BB8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84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5B6B84"/>
                    </a:solidFill>
                    <a:latin typeface="Arial"/>
                  </a:rPr>
                  <a:t>Deviation from schedule (MW, + = over-drawal)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8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84"/>
                    </a:solidFill>
                    <a:latin typeface="Arial"/>
                  </a:defRPr>
                </a:pPr>
                <a:r>
                  <a:rPr lang="en-IN" sz="1100" b="0" i="0" u="none" strike="noStrike">
                    <a:solidFill>
                      <a:srgbClr val="5B6B84"/>
                    </a:solidFill>
                    <a:latin typeface="Arial"/>
                  </a:rPr>
                  <a:t>₹ thousand per 15-min block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5632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GridPilot is an optimisation-based control room for a DISCOM. It plans the next 96 fifteen-minute blocks every block, acts within hard constraints, and explains its decisions. The screenshot is the live Control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to right: the steps of dispatch in a simplified DISCOM. The pain points are qualitative and common to utilities with a growing renewable share; they are the design requirements for GridPilot, not statistics. Real practice varies by state and utility.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loop serves the Control Room, the planning workbench and the Scenario Lab. The plan is re-run each block, and immediately when a scenario is injected, a maintenance file is uploaded or a schedule is committed.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screen from the top: KPI cards, alerts, the 96-block chart, then the agent panel. The surplus / deficit next to demand is demand minus own generation, grid and purchases plus sales.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thresholds, enter and exit levels and persistence are in a policy file, so noise does not flip the profile. Hysteresis keeps an event active until it genuinely clears.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ladder shown in the Criteria tab. Cost sits fifth on purpose: security, reliability, reserve and settlement exposure outrank it. The weights between objectives are not tuned numbers, so a higher rank is never traded for a lower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Profiles live in a policy file that can be edited and is validated on load; a broken file is rejected and the previous policy stays in force. Objectives a profile does not list rank after the listed ones in the normal order, which is why the table shows the full seven-step order for every situation.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screenshot Korba Unit-1 is out and demand has jumped. The agent ramps the remaining thermal, imports contract power, buys on the exchange and cuts flexible load at Nagpur and Mehsana (pills "cut 9 MW" and "cut 34 MW"). Critical customers are not cut by demand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mirrors a control room: the grid reacts before the operator does. A unit trip shows on screen at once; the agent's response comes with the next re-plan. A trip is not undone the moment the fault clears: the unit also needs its restart time, shown as "available - restart pending".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curve is computed from the same DSM function the engine uses. Over-drawal is expensive and the cost steepens once the deviation leaves the band; under-drawal inside the band is credited, so a negative DSM total means the deviations so far earned money.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workbench shows the active priority profile and its order, the KPIs, the optimised dispatch, the bid table, the risk analysis and a block-wise schedule. Results are compared with a baseline when a lever is applied.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 Lab is how operators and judges can see the agent respond: inject a Korba trip with a demand surge, watch the shortage ladder, clear it, and watch the restart-pending alert.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Actions tab during a shortage. Next: the Reasoning tab with a live answer to "Why is there a deficit and what is the agent doing about it?" The answer is generated from the app's own data and shows its arithmetic.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Layered view. The experience layer is a React app fed by REST and a live SSE stream. The agent loop runs in Node every block: digital twin (truth versus forecast), situation assessment with hysteresis, priority profile selection, action selection against the committed schedule, and an audit record. The decision core is a staged lexicographic MILP solved by HiGHS in worker threads, followed by an independent verifier; shadow prices feed the explanations. AI and machine learning in the product: Claude is used only for grounded question answering; optimisation makes the decisions; rules form an expert system; Monte-Carlo gives risk bands; forecasts come from weather-model data, physical conversion and persistence correction, with learning-based forecasting on the roadmap. The app is deployed on Railway and runs locally.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AI is used, honestly: optimisation makes the decisions; an expert system detects situations; Monte-Carlo gives risk bands; forecasts come from weather-model (NWP) data converted by physics and corrected by persistence; Claude is used only for grounded question answering. Learning-based forecasting is on the roadmap. HiGHS is an open-source LP / MILP solver.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figures come from the running app's simulated day: renewable utilisation 97%, reserve adequacy 100%, delivered cost 4.10 rupees per kWh against an average tariff of 6.53, carbon intensity 0.68 t per MWh. The sizing table scales the simulated day (about 19,400 MWh a day, 7.1 TWh a year at 4.10 rupees per kWh) and applies assumed improvements; it is arithmetic, not a measured saving. 1% of 2,900 crore is 29 crore; 10% of 101 crore DSM is 10 crore; half of 60 GWh curtailed at 4.10 rupees is about 12 crore.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Scaling is honest: today one process serves one DISCOM, which is right for a pilot. Solve time is the main limit as portfolios grow, which is why stage skipping, two solver lanes and a watchdog already exist. The route to many utilities is configuration per DISCOM (portfolio, policy, data), a shared database, authentication and several instances.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live Control Room during a shortage: Korba tripped, demand surging, the agent buying, importing and cutting flexible load, and every action explained.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ASSUMPTION: the meaning of D3 and F3 was not provided, so this slide interprets them as Decision autonomy level 3 and Foresight level 3. Edit the headings and subtitles to the rubric's wording; the evidence bullets are the real capabilities of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where possible, honest where not. Grid-India reports and IEX have no open API, so they are loaded through uploaders. If a live source is unreachable the app keeps running on modelled values and says so on the Data Sources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assumptions a reviewer should know. The most important are: DSM parameters are indicative, frequency is simplified to 50 Hz, and the portfolio is representative.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FAE"/>
                </a:solidFill>
              </a:rPr>
              <a:t>GridPilot  ·  ET AI Hackathon  ·  Problem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FA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FAE"/>
                </a:solidFill>
              </a:rPr>
              <a:t>GridPilot  ·  ET AI Hackathon  ·  Problem 4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FA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4"/>
                </a:solidFill>
              </a:rPr>
              <a:t>GridPilot  ·  ET AI Hackathon  ·  Problem 4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FA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ridpilot-production-2fe6.up.railway.app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hyperlink" Target="https://github.com/sharifa2708/GridPilot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 ·  PROBLEM 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GridPilot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6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orchestrator for renewable-rich power dispatch in Indian DISCOMs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optimiser that re-plans every 15-minute block, acts inside hard guardrails, and explains every decision.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74920"/>
            <a:ext cx="16002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50749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blocks / day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0" y="5074920"/>
            <a:ext cx="1600200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86000" y="50749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optimiser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23360" y="5074920"/>
            <a:ext cx="1600200" cy="38404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23360" y="50749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Lab</a:t>
            </a:r>
            <a:endParaRPr lang="en-US" sz="1200" dirty="0"/>
          </a:p>
        </p:txBody>
      </p:sp>
      <p:sp>
        <p:nvSpPr>
          <p:cNvPr id="12" name="frame calm_top.png"/>
          <p:cNvSpPr/>
          <p:nvPr/>
        </p:nvSpPr>
        <p:spPr>
          <a:xfrm>
            <a:off x="6309360" y="1223409"/>
            <a:ext cx="5532120" cy="4045423"/>
          </a:xfrm>
          <a:prstGeom prst="roundRect">
            <a:avLst>
              <a:gd name="adj" fmla="val 1356"/>
            </a:avLst>
          </a:prstGeom>
          <a:solidFill>
            <a:srgbClr val="22304A"/>
          </a:solidFill>
          <a:ln w="6350">
            <a:solidFill>
              <a:srgbClr val="22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pic>
        <p:nvPicPr>
          <p:cNvPr id="13" name="calm_top.png" descr="GridPilot Control Room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69129"/>
            <a:ext cx="5440680" cy="3953983"/>
          </a:xfrm>
          <a:prstGeom prst="rect">
            <a:avLst/>
          </a:prstGeom>
        </p:spPr>
      </p:pic>
      <p:sp>
        <p:nvSpPr>
          <p:cNvPr id="15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FA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A8A60B-EBF0-FE37-EC45-4FB964A7E44F}"/>
              </a:ext>
            </a:extLst>
          </p:cNvPr>
          <p:cNvSpPr txBox="1"/>
          <p:nvPr/>
        </p:nvSpPr>
        <p:spPr>
          <a:xfrm>
            <a:off x="457200" y="5918485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Team Member: Shivangi Singh</a:t>
            </a:r>
            <a:endParaRPr lang="en-IN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is planned in steps, mostly by people, while renewables and prices move every 15 minutes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57400" cy="329184"/>
          </a:xfrm>
          <a:prstGeom prst="roundRect">
            <a:avLst>
              <a:gd name="adj" fmla="val 27778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 morning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548640" y="1975104"/>
            <a:ext cx="20574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2011680"/>
            <a:ext cx="1783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B1220"/>
                </a:solidFill>
              </a:rPr>
              <a:t>Forecast and plan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3415C"/>
                </a:solidFill>
              </a:rPr>
              <a:t>Thermal commitment and contract drawal set from forecasts and experience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>
            <a:off x="2624328" y="1764792"/>
            <a:ext cx="146304" cy="0"/>
          </a:xfrm>
          <a:prstGeom prst="line">
            <a:avLst/>
          </a:prstGeom>
          <a:noFill/>
          <a:ln w="19050">
            <a:solidFill>
              <a:srgbClr val="7F8FA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88920" y="1600200"/>
            <a:ext cx="2057400" cy="329184"/>
          </a:xfrm>
          <a:prstGeom prst="roundRect">
            <a:avLst>
              <a:gd name="adj" fmla="val 27778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88920" y="16002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 by 10:00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2788920" y="1975104"/>
            <a:ext cx="20574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926080" y="2011680"/>
            <a:ext cx="1783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B1220"/>
                </a:solidFill>
              </a:rPr>
              <a:t>Day-ahead bids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3415C"/>
                </a:solidFill>
              </a:rPr>
              <a:t>Exchange volumes bid; position fixed once bids close</a:t>
            </a:r>
            <a:endParaRPr lang="en-US" sz="1400" dirty="0"/>
          </a:p>
        </p:txBody>
      </p:sp>
      <p:sp>
        <p:nvSpPr>
          <p:cNvPr id="13" name="arrow"/>
          <p:cNvSpPr/>
          <p:nvPr/>
        </p:nvSpPr>
        <p:spPr>
          <a:xfrm>
            <a:off x="4864608" y="1764792"/>
            <a:ext cx="146304" cy="0"/>
          </a:xfrm>
          <a:prstGeom prst="line">
            <a:avLst/>
          </a:prstGeom>
          <a:noFill/>
          <a:ln w="19050">
            <a:solidFill>
              <a:srgbClr val="7F8FA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29200" y="1600200"/>
            <a:ext cx="2057400" cy="329184"/>
          </a:xfrm>
          <a:prstGeom prst="roundRect">
            <a:avLst>
              <a:gd name="adj" fmla="val 27778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0" y="16002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Intraday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5029200" y="1975104"/>
            <a:ext cx="20574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166360" y="2011680"/>
            <a:ext cx="1783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B1220"/>
                </a:solidFill>
              </a:rPr>
              <a:t>Real-time market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3415C"/>
                </a:solidFill>
              </a:rPr>
              <a:t>Hourly-ahead corrections, adjusted by hand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7104888" y="1764792"/>
            <a:ext cx="146304" cy="0"/>
          </a:xfrm>
          <a:prstGeom prst="line">
            <a:avLst/>
          </a:prstGeom>
          <a:noFill/>
          <a:ln w="19050">
            <a:solidFill>
              <a:srgbClr val="7F8FA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69480" y="1600200"/>
            <a:ext cx="2057400" cy="329184"/>
          </a:xfrm>
          <a:prstGeom prst="roundRect">
            <a:avLst>
              <a:gd name="adj" fmla="val 27778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69480" y="16002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7269480" y="1975104"/>
            <a:ext cx="20574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406640" y="2011680"/>
            <a:ext cx="1783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B1220"/>
                </a:solidFill>
              </a:rPr>
              <a:t>Balancing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3415C"/>
                </a:solidFill>
              </a:rPr>
              <a:t>Operators ramp units and call reserves as surprises arrive</a:t>
            </a:r>
            <a:endParaRPr lang="en-US" sz="1400" dirty="0"/>
          </a:p>
        </p:txBody>
      </p:sp>
      <p:sp>
        <p:nvSpPr>
          <p:cNvPr id="23" name="arrow"/>
          <p:cNvSpPr/>
          <p:nvPr/>
        </p:nvSpPr>
        <p:spPr>
          <a:xfrm>
            <a:off x="9345168" y="1764792"/>
            <a:ext cx="146304" cy="0"/>
          </a:xfrm>
          <a:prstGeom prst="line">
            <a:avLst/>
          </a:prstGeom>
          <a:noFill/>
          <a:ln w="19050">
            <a:solidFill>
              <a:srgbClr val="7F8FA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509760" y="1600200"/>
            <a:ext cx="2057400" cy="329184"/>
          </a:xfrm>
          <a:prstGeom prst="roundRect">
            <a:avLst>
              <a:gd name="adj" fmla="val 27778"/>
            </a:avLst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09760" y="16002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15 min</a:t>
            </a:r>
            <a:endParaRPr lang="en-US" sz="1200" dirty="0"/>
          </a:p>
        </p:txBody>
      </p:sp>
      <p:sp>
        <p:nvSpPr>
          <p:cNvPr id="26" name="card"/>
          <p:cNvSpPr/>
          <p:nvPr/>
        </p:nvSpPr>
        <p:spPr>
          <a:xfrm>
            <a:off x="9509760" y="1975104"/>
            <a:ext cx="20574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646920" y="2011680"/>
            <a:ext cx="1783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B1220"/>
                </a:solidFill>
              </a:rPr>
              <a:t>Settlement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3415C"/>
                </a:solidFill>
              </a:rPr>
              <a:t>Deviation charged or credited (DSM); cost known afterwards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hurts</a:t>
            </a:r>
            <a:endParaRPr lang="en-US" sz="1600" dirty="0"/>
          </a:p>
        </p:txBody>
      </p:sp>
      <p:sp>
        <p:nvSpPr>
          <p:cNvPr id="29" name="card"/>
          <p:cNvSpPr/>
          <p:nvPr/>
        </p:nvSpPr>
        <p:spPr>
          <a:xfrm>
            <a:off x="548640" y="3611880"/>
            <a:ext cx="3566160" cy="941832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30" name="icon bg"/>
          <p:cNvSpPr/>
          <p:nvPr/>
        </p:nvSpPr>
        <p:spPr>
          <a:xfrm>
            <a:off x="713232" y="3794760"/>
            <a:ext cx="566928" cy="566928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31" name="Image 0" descr="ChartLin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3936492"/>
            <a:ext cx="283464" cy="283464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1417320" y="3657600"/>
            <a:ext cx="25603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350" b="1" dirty="0">
                <a:solidFill>
                  <a:srgbClr val="0B1220"/>
                </a:solidFill>
              </a:rPr>
              <a:t>Forecast error becomes cost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</a:rPr>
              <a:t>Every MW off schedule is settled as a deviation, often at the worst price.</a:t>
            </a:r>
            <a:endParaRPr lang="en-US" sz="1350" dirty="0"/>
          </a:p>
        </p:txBody>
      </p:sp>
      <p:sp>
        <p:nvSpPr>
          <p:cNvPr id="33" name="card"/>
          <p:cNvSpPr/>
          <p:nvPr/>
        </p:nvSpPr>
        <p:spPr>
          <a:xfrm>
            <a:off x="4297680" y="3611880"/>
            <a:ext cx="3566160" cy="941832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34" name="icon bg"/>
          <p:cNvSpPr/>
          <p:nvPr/>
        </p:nvSpPr>
        <p:spPr>
          <a:xfrm>
            <a:off x="4462272" y="3794760"/>
            <a:ext cx="566928" cy="56692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35" name="Image 1" descr="Cloc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4004" y="3936492"/>
            <a:ext cx="283464" cy="283464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5166360" y="3657600"/>
            <a:ext cx="25603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350" b="1" dirty="0">
                <a:solidFill>
                  <a:srgbClr val="0B1220"/>
                </a:solidFill>
              </a:rPr>
              <a:t>Planning is slower than the grid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</a:rPr>
              <a:t>Decisions take hours; the system changes every block.</a:t>
            </a:r>
            <a:endParaRPr lang="en-US" sz="1350" dirty="0"/>
          </a:p>
        </p:txBody>
      </p:sp>
      <p:sp>
        <p:nvSpPr>
          <p:cNvPr id="37" name="card"/>
          <p:cNvSpPr/>
          <p:nvPr/>
        </p:nvSpPr>
        <p:spPr>
          <a:xfrm>
            <a:off x="8046720" y="3611880"/>
            <a:ext cx="3566160" cy="941832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38" name="icon bg"/>
          <p:cNvSpPr/>
          <p:nvPr/>
        </p:nvSpPr>
        <p:spPr>
          <a:xfrm>
            <a:off x="8211312" y="3794760"/>
            <a:ext cx="566928" cy="56692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39" name="Image 2" descr="LayerGroup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044" y="3936492"/>
            <a:ext cx="283464" cy="283464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8915400" y="3657600"/>
            <a:ext cx="25603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350" b="1" dirty="0">
                <a:solidFill>
                  <a:srgbClr val="0B1220"/>
                </a:solidFill>
              </a:rPr>
              <a:t>Fragmented tools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</a:rPr>
              <a:t>Weather, market, SCADA, outages and spreadsheets live apart.</a:t>
            </a:r>
            <a:endParaRPr lang="en-US" sz="1350" dirty="0"/>
          </a:p>
        </p:txBody>
      </p:sp>
      <p:sp>
        <p:nvSpPr>
          <p:cNvPr id="41" name="card"/>
          <p:cNvSpPr/>
          <p:nvPr/>
        </p:nvSpPr>
        <p:spPr>
          <a:xfrm>
            <a:off x="548640" y="4663440"/>
            <a:ext cx="3566160" cy="941832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42" name="icon bg"/>
          <p:cNvSpPr/>
          <p:nvPr/>
        </p:nvSpPr>
        <p:spPr>
          <a:xfrm>
            <a:off x="713232" y="4846320"/>
            <a:ext cx="566928" cy="566928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43" name="Image 3" descr="BalanceScal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" y="4988052"/>
            <a:ext cx="283464" cy="283464"/>
          </a:xfrm>
          <a:prstGeom prst="rect">
            <a:avLst/>
          </a:prstGeom>
        </p:spPr>
      </p:pic>
      <p:sp>
        <p:nvSpPr>
          <p:cNvPr id="44" name="Text 38"/>
          <p:cNvSpPr txBox="1"/>
          <p:nvPr/>
        </p:nvSpPr>
        <p:spPr>
          <a:xfrm>
            <a:off x="1417320" y="4709160"/>
            <a:ext cx="25603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350" b="1" dirty="0">
                <a:solidFill>
                  <a:srgbClr val="0B1220"/>
                </a:solidFill>
              </a:rPr>
              <a:t>One fixed priority list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</a:rPr>
              <a:t>The same rule of thumb on a calm day and during a unit trip.</a:t>
            </a:r>
            <a:endParaRPr lang="en-US" sz="1350" dirty="0"/>
          </a:p>
        </p:txBody>
      </p:sp>
      <p:sp>
        <p:nvSpPr>
          <p:cNvPr id="45" name="card"/>
          <p:cNvSpPr/>
          <p:nvPr/>
        </p:nvSpPr>
        <p:spPr>
          <a:xfrm>
            <a:off x="4297680" y="4663440"/>
            <a:ext cx="3566160" cy="941832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46" name="icon bg"/>
          <p:cNvSpPr/>
          <p:nvPr/>
        </p:nvSpPr>
        <p:spPr>
          <a:xfrm>
            <a:off x="4462272" y="4846320"/>
            <a:ext cx="566928" cy="56692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47" name="Image 4" descr="Bolt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4004" y="4988052"/>
            <a:ext cx="283464" cy="283464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5166360" y="4709160"/>
            <a:ext cx="25603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350" b="1" dirty="0">
                <a:solidFill>
                  <a:srgbClr val="0B1220"/>
                </a:solidFill>
              </a:rPr>
              <a:t>Disturbances met reactively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</a:rPr>
              <a:t>A trip or cloud burst is handled after it happens; no safe rehearsal.</a:t>
            </a:r>
            <a:endParaRPr lang="en-US" sz="1350" dirty="0"/>
          </a:p>
        </p:txBody>
      </p:sp>
      <p:sp>
        <p:nvSpPr>
          <p:cNvPr id="49" name="card"/>
          <p:cNvSpPr/>
          <p:nvPr/>
        </p:nvSpPr>
        <p:spPr>
          <a:xfrm>
            <a:off x="8046720" y="4663440"/>
            <a:ext cx="3566160" cy="941832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50" name="icon bg"/>
          <p:cNvSpPr/>
          <p:nvPr/>
        </p:nvSpPr>
        <p:spPr>
          <a:xfrm>
            <a:off x="8211312" y="4846320"/>
            <a:ext cx="566928" cy="566928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51" name="Image 5" descr="Eye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3044" y="4988052"/>
            <a:ext cx="283464" cy="283464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8915400" y="4709160"/>
            <a:ext cx="25603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350" b="1" dirty="0">
                <a:solidFill>
                  <a:srgbClr val="0B1220"/>
                </a:solidFill>
              </a:rPr>
              <a:t>Decisions are hard to explain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</a:rPr>
              <a:t>Trade-offs between cost, reliability and renewable use are rarely written down.</a:t>
            </a:r>
            <a:endParaRPr lang="en-US" sz="1350" dirty="0"/>
          </a:p>
        </p:txBody>
      </p:sp>
      <p:sp>
        <p:nvSpPr>
          <p:cNvPr id="53" name="Text 45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higher delivered cost per unit, avoidable DSM charges, curtailed renewable energy and operators firefighting.</a:t>
            </a:r>
            <a:endParaRPr lang="en-US" sz="1400" dirty="0"/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GridPilot: observe, decide, act and explain, every block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closed loop that runs every 15 minutes (and instantly when something changes)</a:t>
            </a:r>
            <a:endParaRPr lang="en-US" sz="1500" dirty="0"/>
          </a:p>
        </p:txBody>
      </p:sp>
      <p:sp>
        <p:nvSpPr>
          <p:cNvPr id="4" name="loop card"/>
          <p:cNvSpPr/>
          <p:nvPr/>
        </p:nvSpPr>
        <p:spPr>
          <a:xfrm>
            <a:off x="548640" y="1828800"/>
            <a:ext cx="1737360" cy="2971800"/>
          </a:xfrm>
          <a:prstGeom prst="roundRect">
            <a:avLst>
              <a:gd name="adj" fmla="val 6316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5" name="icon bg"/>
          <p:cNvSpPr/>
          <p:nvPr/>
        </p:nvSpPr>
        <p:spPr>
          <a:xfrm>
            <a:off x="1051560" y="2011680"/>
            <a:ext cx="731520" cy="7315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6" name="Image 0" descr="Ey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1945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2461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block from the digital twin; weather, prices, outages, events; forecasts corrected by what just happened.</a:t>
            </a:r>
            <a:endParaRPr lang="en-US" sz="1200" dirty="0"/>
          </a:p>
        </p:txBody>
      </p:sp>
      <p:sp>
        <p:nvSpPr>
          <p:cNvPr id="9" name="arrow"/>
          <p:cNvSpPr/>
          <p:nvPr/>
        </p:nvSpPr>
        <p:spPr>
          <a:xfrm>
            <a:off x="2295144" y="3310128"/>
            <a:ext cx="109728" cy="0"/>
          </a:xfrm>
          <a:prstGeom prst="line">
            <a:avLst/>
          </a:prstGeom>
          <a:noFill/>
          <a:ln w="19050">
            <a:solidFill>
              <a:srgbClr val="7F8FAE"/>
            </a:solidFill>
            <a:prstDash val="solid"/>
            <a:tailEnd type="triangle"/>
          </a:ln>
        </p:spPr>
      </p:sp>
      <p:sp>
        <p:nvSpPr>
          <p:cNvPr id="10" name="loop card"/>
          <p:cNvSpPr/>
          <p:nvPr/>
        </p:nvSpPr>
        <p:spPr>
          <a:xfrm>
            <a:off x="2414016" y="1828800"/>
            <a:ext cx="1737360" cy="2971800"/>
          </a:xfrm>
          <a:prstGeom prst="roundRect">
            <a:avLst>
              <a:gd name="adj" fmla="val 6316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1" name="icon bg"/>
          <p:cNvSpPr/>
          <p:nvPr/>
        </p:nvSpPr>
        <p:spPr>
          <a:xfrm>
            <a:off x="2916936" y="2011680"/>
            <a:ext cx="731520" cy="731520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12" name="Image 1" descr="Search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9816" y="21945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414016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551176" y="32461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situations: frequency, surplus, evening ramp, price spike, battery, line limit, demand spike, forecast error, unit trip.</a:t>
            </a:r>
            <a:endParaRPr lang="en-US" sz="1200" dirty="0"/>
          </a:p>
        </p:txBody>
      </p:sp>
      <p:sp>
        <p:nvSpPr>
          <p:cNvPr id="15" name="arrow"/>
          <p:cNvSpPr/>
          <p:nvPr/>
        </p:nvSpPr>
        <p:spPr>
          <a:xfrm>
            <a:off x="4160520" y="3310128"/>
            <a:ext cx="109728" cy="0"/>
          </a:xfrm>
          <a:prstGeom prst="line">
            <a:avLst/>
          </a:prstGeom>
          <a:noFill/>
          <a:ln w="19050">
            <a:solidFill>
              <a:srgbClr val="7F8FAE"/>
            </a:solidFill>
            <a:prstDash val="solid"/>
            <a:tailEnd type="triangle"/>
          </a:ln>
        </p:spPr>
      </p:sp>
      <p:sp>
        <p:nvSpPr>
          <p:cNvPr id="16" name="loop card"/>
          <p:cNvSpPr/>
          <p:nvPr/>
        </p:nvSpPr>
        <p:spPr>
          <a:xfrm>
            <a:off x="4279392" y="1828800"/>
            <a:ext cx="1737360" cy="2971800"/>
          </a:xfrm>
          <a:prstGeom prst="roundRect">
            <a:avLst>
              <a:gd name="adj" fmla="val 6316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7" name="icon bg"/>
          <p:cNvSpPr/>
          <p:nvPr/>
        </p:nvSpPr>
        <p:spPr>
          <a:xfrm>
            <a:off x="4782312" y="2011680"/>
            <a:ext cx="731520" cy="73152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8" name="Image 2" descr="Cog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192" y="21945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279392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4416552" y="32461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96-block MILP (HiGHS): unit commitment, dispatch, battery, DAM/RTM, in ranked stages.</a:t>
            </a:r>
            <a:endParaRPr lang="en-US" sz="1200" dirty="0"/>
          </a:p>
        </p:txBody>
      </p:sp>
      <p:sp>
        <p:nvSpPr>
          <p:cNvPr id="21" name="arrow"/>
          <p:cNvSpPr/>
          <p:nvPr/>
        </p:nvSpPr>
        <p:spPr>
          <a:xfrm>
            <a:off x="6025896" y="3310128"/>
            <a:ext cx="109728" cy="0"/>
          </a:xfrm>
          <a:prstGeom prst="line">
            <a:avLst/>
          </a:prstGeom>
          <a:noFill/>
          <a:ln w="19050">
            <a:solidFill>
              <a:srgbClr val="7F8FAE"/>
            </a:solidFill>
            <a:prstDash val="solid"/>
            <a:tailEnd type="triangle"/>
          </a:ln>
        </p:spPr>
      </p:sp>
      <p:sp>
        <p:nvSpPr>
          <p:cNvPr id="22" name="loop card"/>
          <p:cNvSpPr/>
          <p:nvPr/>
        </p:nvSpPr>
        <p:spPr>
          <a:xfrm>
            <a:off x="6144768" y="1828800"/>
            <a:ext cx="1737360" cy="2971800"/>
          </a:xfrm>
          <a:prstGeom prst="roundRect">
            <a:avLst>
              <a:gd name="adj" fmla="val 6316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3" name="icon bg"/>
          <p:cNvSpPr/>
          <p:nvPr/>
        </p:nvSpPr>
        <p:spPr>
          <a:xfrm>
            <a:off x="6647688" y="2011680"/>
            <a:ext cx="731520" cy="73152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24" name="Image 3" descr="CheckCircl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0568" y="219456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144768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6281928" y="32461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plan is re-checked independently against hard limits before it is shown.</a:t>
            </a:r>
            <a:endParaRPr lang="en-US" sz="1200" dirty="0"/>
          </a:p>
        </p:txBody>
      </p:sp>
      <p:sp>
        <p:nvSpPr>
          <p:cNvPr id="27" name="arrow"/>
          <p:cNvSpPr/>
          <p:nvPr/>
        </p:nvSpPr>
        <p:spPr>
          <a:xfrm>
            <a:off x="7891272" y="3310128"/>
            <a:ext cx="109728" cy="0"/>
          </a:xfrm>
          <a:prstGeom prst="line">
            <a:avLst/>
          </a:prstGeom>
          <a:noFill/>
          <a:ln w="19050">
            <a:solidFill>
              <a:srgbClr val="7F8FAE"/>
            </a:solidFill>
            <a:prstDash val="solid"/>
            <a:tailEnd type="triangle"/>
          </a:ln>
        </p:spPr>
      </p:sp>
      <p:sp>
        <p:nvSpPr>
          <p:cNvPr id="28" name="loop card"/>
          <p:cNvSpPr/>
          <p:nvPr/>
        </p:nvSpPr>
        <p:spPr>
          <a:xfrm>
            <a:off x="8010144" y="1828800"/>
            <a:ext cx="1737360" cy="2971800"/>
          </a:xfrm>
          <a:prstGeom prst="roundRect">
            <a:avLst>
              <a:gd name="adj" fmla="val 6316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9" name="icon bg"/>
          <p:cNvSpPr/>
          <p:nvPr/>
        </p:nvSpPr>
        <p:spPr>
          <a:xfrm>
            <a:off x="8513064" y="2011680"/>
            <a:ext cx="731520" cy="7315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30" name="Image 4" descr="Bolt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5944" y="219456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010144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8147304" y="32461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balancing, deviation settlement, cost accounting; changes vs the committed schedule.</a:t>
            </a:r>
            <a:endParaRPr lang="en-US" sz="1200" dirty="0"/>
          </a:p>
        </p:txBody>
      </p:sp>
      <p:sp>
        <p:nvSpPr>
          <p:cNvPr id="33" name="arrow"/>
          <p:cNvSpPr/>
          <p:nvPr/>
        </p:nvSpPr>
        <p:spPr>
          <a:xfrm>
            <a:off x="9756648" y="3310128"/>
            <a:ext cx="109728" cy="0"/>
          </a:xfrm>
          <a:prstGeom prst="line">
            <a:avLst/>
          </a:prstGeom>
          <a:noFill/>
          <a:ln w="19050">
            <a:solidFill>
              <a:srgbClr val="7F8FAE"/>
            </a:solidFill>
            <a:prstDash val="solid"/>
            <a:tailEnd type="triangle"/>
          </a:ln>
        </p:spPr>
      </p:sp>
      <p:sp>
        <p:nvSpPr>
          <p:cNvPr id="34" name="loop card"/>
          <p:cNvSpPr/>
          <p:nvPr/>
        </p:nvSpPr>
        <p:spPr>
          <a:xfrm>
            <a:off x="9875520" y="1828800"/>
            <a:ext cx="1737360" cy="2971800"/>
          </a:xfrm>
          <a:prstGeom prst="roundRect">
            <a:avLst>
              <a:gd name="adj" fmla="val 6316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35" name="icon bg"/>
          <p:cNvSpPr/>
          <p:nvPr/>
        </p:nvSpPr>
        <p:spPr>
          <a:xfrm>
            <a:off x="10378440" y="2011680"/>
            <a:ext cx="731520" cy="73152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36" name="Image 5" descr="Comments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61320" y="2194560"/>
            <a:ext cx="365760" cy="36576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875520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600" dirty="0"/>
          </a:p>
        </p:txBody>
      </p:sp>
      <p:sp>
        <p:nvSpPr>
          <p:cNvPr id="38" name="Text 30"/>
          <p:cNvSpPr txBox="1"/>
          <p:nvPr/>
        </p:nvSpPr>
        <p:spPr>
          <a:xfrm>
            <a:off x="10012680" y="32461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Reason, shadow price and alternative for each action; audit trail; grounded Q&amp;A.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1417320" y="5074920"/>
            <a:ext cx="9326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dash"/>
          </a:ln>
        </p:spPr>
      </p:sp>
      <p:sp>
        <p:nvSpPr>
          <p:cNvPr id="40" name="arrow"/>
          <p:cNvSpPr/>
          <p:nvPr/>
        </p:nvSpPr>
        <p:spPr>
          <a:xfrm flipV="1">
            <a:off x="1417320" y="4818888"/>
            <a:ext cx="0" cy="256032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41" name="Shape 33"/>
          <p:cNvSpPr/>
          <p:nvPr/>
        </p:nvSpPr>
        <p:spPr>
          <a:xfrm>
            <a:off x="10744200" y="4818888"/>
            <a:ext cx="0" cy="256032"/>
          </a:xfrm>
          <a:prstGeom prst="line">
            <a:avLst/>
          </a:prstGeom>
          <a:noFill/>
          <a:ln w="25400">
            <a:solidFill>
              <a:srgbClr val="3B82F6"/>
            </a:solidFill>
            <a:prstDash val="dash"/>
          </a:ln>
        </p:spPr>
      </p:sp>
      <p:sp>
        <p:nvSpPr>
          <p:cNvPr id="42" name="Text 34"/>
          <p:cNvSpPr txBox="1"/>
          <p:nvPr/>
        </p:nvSpPr>
        <p:spPr>
          <a:xfrm>
            <a:off x="3840480" y="51389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happened feeds the next plan</a:t>
            </a:r>
            <a:endParaRPr lang="en-US" sz="1300" dirty="0"/>
          </a:p>
        </p:txBody>
      </p:sp>
      <p:sp>
        <p:nvSpPr>
          <p:cNvPr id="43" name="Text 35"/>
          <p:cNvSpPr txBox="1"/>
          <p:nvPr/>
        </p:nvSpPr>
        <p:spPr>
          <a:xfrm>
            <a:off x="548640" y="5577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constraints always hold</a:t>
            </a:r>
            <a:endParaRPr lang="en-US" sz="1500" dirty="0"/>
          </a:p>
        </p:txBody>
      </p:sp>
      <p:sp>
        <p:nvSpPr>
          <p:cNvPr id="44" name="Text 36"/>
          <p:cNvSpPr txBox="1"/>
          <p:nvPr/>
        </p:nvSpPr>
        <p:spPr>
          <a:xfrm>
            <a:off x="548640" y="5870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limits, ramps, minimum up/down</a:t>
            </a:r>
            <a:endParaRPr lang="en-US" sz="1300" dirty="0"/>
          </a:p>
        </p:txBody>
      </p:sp>
      <p:sp>
        <p:nvSpPr>
          <p:cNvPr id="45" name="Text 37"/>
          <p:cNvSpPr txBox="1"/>
          <p:nvPr/>
        </p:nvSpPr>
        <p:spPr>
          <a:xfrm>
            <a:off x="4297680" y="5577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adapt to the situation</a:t>
            </a:r>
            <a:endParaRPr lang="en-US" sz="1500" dirty="0"/>
          </a:p>
        </p:txBody>
      </p:sp>
      <p:sp>
        <p:nvSpPr>
          <p:cNvPr id="46" name="Text 38"/>
          <p:cNvSpPr txBox="1"/>
          <p:nvPr/>
        </p:nvSpPr>
        <p:spPr>
          <a:xfrm>
            <a:off x="4297680" y="5870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fixed ladder</a:t>
            </a:r>
            <a:endParaRPr lang="en-US" sz="1300" dirty="0"/>
          </a:p>
        </p:txBody>
      </p:sp>
      <p:sp>
        <p:nvSpPr>
          <p:cNvPr id="47" name="Text 39"/>
          <p:cNvSpPr txBox="1"/>
          <p:nvPr/>
        </p:nvSpPr>
        <p:spPr>
          <a:xfrm>
            <a:off x="8046720" y="5577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stay in control</a:t>
            </a:r>
            <a:endParaRPr lang="en-US" sz="1500" dirty="0"/>
          </a:p>
        </p:txBody>
      </p:sp>
      <p:sp>
        <p:nvSpPr>
          <p:cNvPr id="48" name="Text 40"/>
          <p:cNvSpPr txBox="1"/>
          <p:nvPr/>
        </p:nvSpPr>
        <p:spPr>
          <a:xfrm>
            <a:off x="8046720" y="5870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or supervised, with approvals</a:t>
            </a:r>
            <a:endParaRPr lang="en-US" sz="13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FA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Room at a glance</a:t>
            </a:r>
            <a:endParaRPr lang="en-US" sz="3400" dirty="0"/>
          </a:p>
        </p:txBody>
      </p:sp>
      <p:sp>
        <p:nvSpPr>
          <p:cNvPr id="3" name="frame calm_top.png"/>
          <p:cNvSpPr/>
          <p:nvPr/>
        </p:nvSpPr>
        <p:spPr>
          <a:xfrm>
            <a:off x="900501" y="1325880"/>
            <a:ext cx="6885798" cy="5029200"/>
          </a:xfrm>
          <a:prstGeom prst="roundRect">
            <a:avLst>
              <a:gd name="adj" fmla="val 1091"/>
            </a:avLst>
          </a:prstGeom>
          <a:solidFill>
            <a:srgbClr val="22304A"/>
          </a:solidFill>
          <a:ln w="6350">
            <a:solidFill>
              <a:srgbClr val="22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pic>
        <p:nvPicPr>
          <p:cNvPr id="4" name="calm_top.png" descr="Control Ro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221" y="1371600"/>
            <a:ext cx="6794358" cy="4937760"/>
          </a:xfrm>
          <a:prstGeom prst="rect">
            <a:avLst/>
          </a:prstGeom>
        </p:spPr>
      </p:pic>
      <p:sp>
        <p:nvSpPr>
          <p:cNvPr id="5" name="marker 1"/>
          <p:cNvSpPr/>
          <p:nvPr/>
        </p:nvSpPr>
        <p:spPr>
          <a:xfrm>
            <a:off x="7446874" y="1670426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46874" y="167042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marker 2"/>
          <p:cNvSpPr/>
          <p:nvPr/>
        </p:nvSpPr>
        <p:spPr>
          <a:xfrm>
            <a:off x="4503969" y="2578974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03969" y="257897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marker 3"/>
          <p:cNvSpPr/>
          <p:nvPr/>
        </p:nvSpPr>
        <p:spPr>
          <a:xfrm>
            <a:off x="800649" y="3052999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0649" y="305299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marker 4"/>
          <p:cNvSpPr/>
          <p:nvPr/>
        </p:nvSpPr>
        <p:spPr>
          <a:xfrm>
            <a:off x="5560649" y="4514576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560649" y="4514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</a:rPr>
              <a:t>4</a:t>
            </a:r>
            <a:endParaRPr lang="en-US" sz="1200" dirty="0"/>
          </a:p>
        </p:txBody>
      </p:sp>
      <p:sp>
        <p:nvSpPr>
          <p:cNvPr id="13" name="marker 5"/>
          <p:cNvSpPr/>
          <p:nvPr/>
        </p:nvSpPr>
        <p:spPr>
          <a:xfrm>
            <a:off x="800649" y="5837895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649" y="5837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</a:rPr>
              <a:t>5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412480" y="1399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1248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86968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869680" y="17373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Frequency, demand with its surplus or deficit, market price, time, cost per unit incl. DSM, clean-energy share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412480" y="238658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12480" y="2386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869680" y="23591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alerts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869680" y="272491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the moment equipment trips or a limit is reached, not at the next plan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412480" y="337413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412480" y="3374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869680" y="334670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96-block chart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869680" y="3712464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= actual, shaded = agent plan, stacked by source with price and battery charge below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8412480" y="436168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12480" y="4361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869680" y="43342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panel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869680" y="4700016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for the next slot, current situation, priority order, reasoning, log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8412480" y="534924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412480" y="5349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869680" y="53218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and schedule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8869680" y="568756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by customer with cut / deferred / disrupted pills; the 96-row schedule below</a:t>
            </a:r>
            <a:endParaRPr lang="en-US" sz="12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decision is made</a:t>
            </a:r>
            <a:endParaRPr lang="en-US" sz="3400" dirty="0"/>
          </a:p>
        </p:txBody>
      </p:sp>
      <p:sp>
        <p:nvSpPr>
          <p:cNvPr id="3" name="stage card"/>
          <p:cNvSpPr/>
          <p:nvPr/>
        </p:nvSpPr>
        <p:spPr>
          <a:xfrm>
            <a:off x="548640" y="146304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16213A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12064" cy="512064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377440"/>
            <a:ext cx="17007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going on? Nine event types detected from data, forecasts, asset status, prices and maintenance, each with severity, confidence and evidence.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>
            <a:off x="2660904" y="3154680"/>
            <a:ext cx="118872" cy="0"/>
          </a:xfrm>
          <a:prstGeom prst="line">
            <a:avLst/>
          </a:prstGeom>
          <a:noFill/>
          <a:ln w="19050">
            <a:solidFill>
              <a:srgbClr val="7F8FAE"/>
            </a:solidFill>
            <a:prstDash val="solid"/>
            <a:tailEnd type="triangle"/>
          </a:ln>
        </p:spPr>
      </p:sp>
      <p:sp>
        <p:nvSpPr>
          <p:cNvPr id="9" name="stage card"/>
          <p:cNvSpPr/>
          <p:nvPr/>
        </p:nvSpPr>
        <p:spPr>
          <a:xfrm>
            <a:off x="2788920" y="146304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16213A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0" y="1691640"/>
            <a:ext cx="512064" cy="512064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7520" y="1691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169164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profile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990088" y="2377440"/>
            <a:ext cx="17007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objectives rank first? Profiles reorder the ladder; several events are combined by weighted rank aggregation.</a:t>
            </a:r>
            <a:endParaRPr lang="en-US" sz="1400" dirty="0"/>
          </a:p>
        </p:txBody>
      </p:sp>
      <p:sp>
        <p:nvSpPr>
          <p:cNvPr id="14" name="arrow"/>
          <p:cNvSpPr/>
          <p:nvPr/>
        </p:nvSpPr>
        <p:spPr>
          <a:xfrm>
            <a:off x="4901184" y="3154680"/>
            <a:ext cx="118872" cy="0"/>
          </a:xfrm>
          <a:prstGeom prst="line">
            <a:avLst/>
          </a:prstGeom>
          <a:noFill/>
          <a:ln w="19050">
            <a:solidFill>
              <a:srgbClr val="7F8FAE"/>
            </a:solidFill>
            <a:prstDash val="solid"/>
            <a:tailEnd type="triangle"/>
          </a:ln>
        </p:spPr>
      </p:sp>
      <p:sp>
        <p:nvSpPr>
          <p:cNvPr id="15" name="stage card"/>
          <p:cNvSpPr/>
          <p:nvPr/>
        </p:nvSpPr>
        <p:spPr>
          <a:xfrm>
            <a:off x="5029200" y="146304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16213A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57800" y="1691640"/>
            <a:ext cx="512064" cy="512064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57800" y="1691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897880" y="169164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optimisation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230368" y="2377440"/>
            <a:ext cx="17007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objective 1, freeze it with a tolerance, then objective 2, and so on. A higher rank is never traded for a lower one.</a:t>
            </a:r>
            <a:endParaRPr lang="en-US" sz="1400" dirty="0"/>
          </a:p>
        </p:txBody>
      </p:sp>
      <p:sp>
        <p:nvSpPr>
          <p:cNvPr id="20" name="arrow"/>
          <p:cNvSpPr/>
          <p:nvPr/>
        </p:nvSpPr>
        <p:spPr>
          <a:xfrm>
            <a:off x="7141464" y="3154680"/>
            <a:ext cx="118872" cy="0"/>
          </a:xfrm>
          <a:prstGeom prst="line">
            <a:avLst/>
          </a:prstGeom>
          <a:noFill/>
          <a:ln w="19050">
            <a:solidFill>
              <a:srgbClr val="7F8FAE"/>
            </a:solidFill>
            <a:prstDash val="solid"/>
            <a:tailEnd type="triangle"/>
          </a:ln>
        </p:spPr>
      </p:sp>
      <p:sp>
        <p:nvSpPr>
          <p:cNvPr id="21" name="stage card"/>
          <p:cNvSpPr/>
          <p:nvPr/>
        </p:nvSpPr>
        <p:spPr>
          <a:xfrm>
            <a:off x="7269480" y="146304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16213A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0" y="1691640"/>
            <a:ext cx="512064" cy="512064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0" y="1691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169164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470648" y="2377440"/>
            <a:ext cx="17007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balance, limits, ramps, battery dynamics, committed volumes re-derived from the result. Nothing is violated silently.</a:t>
            </a:r>
            <a:endParaRPr lang="en-US" sz="1400" dirty="0"/>
          </a:p>
        </p:txBody>
      </p:sp>
      <p:sp>
        <p:nvSpPr>
          <p:cNvPr id="26" name="arrow"/>
          <p:cNvSpPr/>
          <p:nvPr/>
        </p:nvSpPr>
        <p:spPr>
          <a:xfrm>
            <a:off x="9381744" y="3154680"/>
            <a:ext cx="118872" cy="0"/>
          </a:xfrm>
          <a:prstGeom prst="line">
            <a:avLst/>
          </a:prstGeom>
          <a:noFill/>
          <a:ln w="19050">
            <a:solidFill>
              <a:srgbClr val="7F8FAE"/>
            </a:solidFill>
            <a:prstDash val="solid"/>
            <a:tailEnd type="triangle"/>
          </a:ln>
        </p:spPr>
      </p:sp>
      <p:sp>
        <p:nvSpPr>
          <p:cNvPr id="27" name="stage card"/>
          <p:cNvSpPr/>
          <p:nvPr/>
        </p:nvSpPr>
        <p:spPr>
          <a:xfrm>
            <a:off x="9509760" y="146304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16213A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38360" y="1691640"/>
            <a:ext cx="512064" cy="512064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738360" y="1691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0378440" y="169164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and audit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710928" y="2377440"/>
            <a:ext cx="17007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changes against the committed schedule, each with reason and alternative. Full run recorded.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situations the agent recognises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48640" y="5166360"/>
            <a:ext cx="2190902" cy="329184"/>
          </a:xfrm>
          <a:prstGeom prst="roundRect">
            <a:avLst>
              <a:gd name="adj" fmla="val 50000"/>
            </a:avLst>
          </a:prstGeom>
          <a:solidFill>
            <a:srgbClr val="1E2D4D"/>
          </a:solidFill>
          <a:ln w="9525">
            <a:solidFill>
              <a:srgbClr val="3B4E7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5166360"/>
            <a:ext cx="21909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deterioration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849270" y="5166360"/>
            <a:ext cx="1686154" cy="329184"/>
          </a:xfrm>
          <a:prstGeom prst="roundRect">
            <a:avLst>
              <a:gd name="adj" fmla="val 50000"/>
            </a:avLst>
          </a:prstGeom>
          <a:solidFill>
            <a:srgbClr val="1E2D4D"/>
          </a:solidFill>
          <a:ln w="9525">
            <a:solidFill>
              <a:srgbClr val="3B4E7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849270" y="5166360"/>
            <a:ext cx="1686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surplus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45152" y="5166360"/>
            <a:ext cx="1265530" cy="329184"/>
          </a:xfrm>
          <a:prstGeom prst="roundRect">
            <a:avLst>
              <a:gd name="adj" fmla="val 50000"/>
            </a:avLst>
          </a:prstGeom>
          <a:solidFill>
            <a:srgbClr val="1E2D4D"/>
          </a:solidFill>
          <a:ln w="9525">
            <a:solidFill>
              <a:srgbClr val="3B4E7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645152" y="5166360"/>
            <a:ext cx="12655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ramp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020410" y="5166360"/>
            <a:ext cx="1181405" cy="329184"/>
          </a:xfrm>
          <a:prstGeom prst="roundRect">
            <a:avLst>
              <a:gd name="adj" fmla="val 50000"/>
            </a:avLst>
          </a:prstGeom>
          <a:solidFill>
            <a:srgbClr val="1E2D4D"/>
          </a:solidFill>
          <a:ln w="9525">
            <a:solidFill>
              <a:srgbClr val="3B4E7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020410" y="5166360"/>
            <a:ext cx="11814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spike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311542" y="5166360"/>
            <a:ext cx="2527402" cy="329184"/>
          </a:xfrm>
          <a:prstGeom prst="roundRect">
            <a:avLst>
              <a:gd name="adj" fmla="val 50000"/>
            </a:avLst>
          </a:prstGeom>
          <a:solidFill>
            <a:srgbClr val="1E2D4D"/>
          </a:solidFill>
          <a:ln w="9525">
            <a:solidFill>
              <a:srgbClr val="3B4E7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311542" y="5166360"/>
            <a:ext cx="25274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outage / low charge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" y="5586984"/>
            <a:ext cx="2190902" cy="329184"/>
          </a:xfrm>
          <a:prstGeom prst="roundRect">
            <a:avLst>
              <a:gd name="adj" fmla="val 50000"/>
            </a:avLst>
          </a:prstGeom>
          <a:solidFill>
            <a:srgbClr val="1E2D4D"/>
          </a:solidFill>
          <a:ln w="9525">
            <a:solidFill>
              <a:srgbClr val="3B4E7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48640" y="5586984"/>
            <a:ext cx="21909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constraint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849270" y="5586984"/>
            <a:ext cx="1265530" cy="329184"/>
          </a:xfrm>
          <a:prstGeom prst="roundRect">
            <a:avLst>
              <a:gd name="adj" fmla="val 50000"/>
            </a:avLst>
          </a:prstGeom>
          <a:solidFill>
            <a:srgbClr val="1E2D4D"/>
          </a:solidFill>
          <a:ln w="9525">
            <a:solidFill>
              <a:srgbClr val="3B4E7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849270" y="5586984"/>
            <a:ext cx="12655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spike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224528" y="5586984"/>
            <a:ext cx="1433779" cy="329184"/>
          </a:xfrm>
          <a:prstGeom prst="roundRect">
            <a:avLst>
              <a:gd name="adj" fmla="val 50000"/>
            </a:avLst>
          </a:prstGeom>
          <a:solidFill>
            <a:srgbClr val="1E2D4D"/>
          </a:solidFill>
          <a:ln w="9525">
            <a:solidFill>
              <a:srgbClr val="3B4E7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224528" y="5586984"/>
            <a:ext cx="14337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error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768035" y="5586984"/>
            <a:ext cx="1938528" cy="329184"/>
          </a:xfrm>
          <a:prstGeom prst="roundRect">
            <a:avLst>
              <a:gd name="adj" fmla="val 50000"/>
            </a:avLst>
          </a:prstGeom>
          <a:solidFill>
            <a:srgbClr val="1E2D4D"/>
          </a:solidFill>
          <a:ln w="9525">
            <a:solidFill>
              <a:srgbClr val="3B4E7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768035" y="5586984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unit failure</a:t>
            </a:r>
            <a:endParaRPr lang="en-US" sz="110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FA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order 1: the default ladder</a:t>
            </a:r>
            <a:endParaRPr lang="en-US" sz="3400" dirty="0"/>
          </a:p>
        </p:txBody>
      </p:sp>
      <p:sp>
        <p:nvSpPr>
          <p:cNvPr id="3" name="rung"/>
          <p:cNvSpPr/>
          <p:nvPr/>
        </p:nvSpPr>
        <p:spPr>
          <a:xfrm>
            <a:off x="548640" y="1371600"/>
            <a:ext cx="72237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76656" y="1472184"/>
            <a:ext cx="420624" cy="420624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" y="1472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0817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security and frequency response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140817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limits: interconnection, corridors, import / export. Always enforced first.</a:t>
            </a:r>
            <a:endParaRPr lang="en-US" sz="1150" dirty="0"/>
          </a:p>
        </p:txBody>
      </p:sp>
      <p:sp>
        <p:nvSpPr>
          <p:cNvPr id="8" name="rung"/>
          <p:cNvSpPr/>
          <p:nvPr/>
        </p:nvSpPr>
        <p:spPr>
          <a:xfrm>
            <a:off x="548640" y="2075688"/>
            <a:ext cx="72237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6656" y="2176272"/>
            <a:ext cx="420624" cy="420624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" y="2176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11226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and critical-load protection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211226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demand; never cut critical customers by demand response.</a:t>
            </a:r>
            <a:endParaRPr lang="en-US" sz="1150" dirty="0"/>
          </a:p>
        </p:txBody>
      </p:sp>
      <p:sp>
        <p:nvSpPr>
          <p:cNvPr id="13" name="rung"/>
          <p:cNvSpPr/>
          <p:nvPr/>
        </p:nvSpPr>
        <p:spPr>
          <a:xfrm>
            <a:off x="548640" y="2779776"/>
            <a:ext cx="72237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6656" y="2880360"/>
            <a:ext cx="420624" cy="420624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8163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adequacy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28163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upward and downward reserve sized from solar, wind and load forecast error.</a:t>
            </a:r>
            <a:endParaRPr lang="en-US" sz="1150" dirty="0"/>
          </a:p>
        </p:txBody>
      </p:sp>
      <p:sp>
        <p:nvSpPr>
          <p:cNvPr id="18" name="rung"/>
          <p:cNvSpPr/>
          <p:nvPr/>
        </p:nvSpPr>
        <p:spPr>
          <a:xfrm>
            <a:off x="548640" y="3483864"/>
            <a:ext cx="72237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" y="3584448"/>
            <a:ext cx="420624" cy="420624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" y="3584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520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 / imbalance exposure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4389120" y="3520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deviation from the schedule and the settlement charge it brings.</a:t>
            </a:r>
            <a:endParaRPr lang="en-US" sz="1150" dirty="0"/>
          </a:p>
        </p:txBody>
      </p:sp>
      <p:sp>
        <p:nvSpPr>
          <p:cNvPr id="23" name="rung"/>
          <p:cNvSpPr/>
          <p:nvPr/>
        </p:nvSpPr>
        <p:spPr>
          <a:xfrm>
            <a:off x="548640" y="4187952"/>
            <a:ext cx="72237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" y="4288536"/>
            <a:ext cx="420624" cy="420624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6656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42245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electricity cost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4389120" y="42245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all-in cost: fuel, tariffs, market, contract, start-ups.</a:t>
            </a:r>
            <a:endParaRPr lang="en-US" sz="1150" dirty="0"/>
          </a:p>
        </p:txBody>
      </p:sp>
      <p:sp>
        <p:nvSpPr>
          <p:cNvPr id="28" name="rung"/>
          <p:cNvSpPr/>
          <p:nvPr/>
        </p:nvSpPr>
        <p:spPr>
          <a:xfrm>
            <a:off x="548640" y="4892040"/>
            <a:ext cx="72237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6656" y="4992624"/>
            <a:ext cx="420624" cy="420624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6656" y="4992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280160" y="492861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utilisation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4389120" y="492861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curtailing solar and wind when it can be absorbed or stored.</a:t>
            </a:r>
            <a:endParaRPr lang="en-US" sz="1150" dirty="0"/>
          </a:p>
        </p:txBody>
      </p:sp>
      <p:sp>
        <p:nvSpPr>
          <p:cNvPr id="33" name="rung"/>
          <p:cNvSpPr/>
          <p:nvPr/>
        </p:nvSpPr>
        <p:spPr>
          <a:xfrm>
            <a:off x="548640" y="5596128"/>
            <a:ext cx="72237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6656" y="5696712"/>
            <a:ext cx="420624" cy="420624"/>
          </a:xfrm>
          <a:prstGeom prst="ellipse">
            <a:avLst/>
          </a:prstGeom>
          <a:solidFill>
            <a:srgbClr val="7F8FAE"/>
          </a:solidFill>
          <a:ln w="6350">
            <a:solidFill>
              <a:srgbClr val="7F8FA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76656" y="5696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1280160" y="563270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flexibility and lifetime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4389120" y="563270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batteries where they pay; limit cycling and wear.</a:t>
            </a:r>
            <a:endParaRPr lang="en-US" sz="1150" dirty="0"/>
          </a:p>
        </p:txBody>
      </p:sp>
      <p:sp>
        <p:nvSpPr>
          <p:cNvPr id="38" name="rules card"/>
          <p:cNvSpPr/>
          <p:nvPr/>
        </p:nvSpPr>
        <p:spPr>
          <a:xfrm>
            <a:off x="8183880" y="1371600"/>
            <a:ext cx="3474720" cy="4846320"/>
          </a:xfrm>
          <a:prstGeom prst="roundRect">
            <a:avLst>
              <a:gd name="adj" fmla="val 2632"/>
            </a:avLst>
          </a:prstGeom>
          <a:solidFill>
            <a:srgbClr val="16213A"/>
          </a:solidFill>
          <a:ln w="9525">
            <a:solidFill>
              <a:srgbClr val="16213A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841248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ranking is applied</a:t>
            </a:r>
            <a:endParaRPr lang="en-US" sz="1700" dirty="0"/>
          </a:p>
        </p:txBody>
      </p:sp>
      <p:sp>
        <p:nvSpPr>
          <p:cNvPr id="40" name="Text 38"/>
          <p:cNvSpPr txBox="1"/>
          <p:nvPr/>
        </p:nvSpPr>
        <p:spPr>
          <a:xfrm>
            <a:off x="8412480" y="2011680"/>
            <a:ext cx="3063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E2F5"/>
                </a:solidFill>
              </a:rPr>
              <a:t>Lexicographic, not weighted. Objective 1 is minimised first; its result is frozen (with a small tolerance) before objective 2 is optimised.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E2F5"/>
                </a:solidFill>
              </a:rPr>
              <a:t>Physical metrics at each stage: MWh unserved, MW·h reserve shortfall, MWh deviation, ₹ cost, MWh curtailed.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E2F5"/>
                </a:solidFill>
              </a:rPr>
              <a:t>Security is a hard constraint, so it is never traded away.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6E2F5"/>
                </a:solidFill>
              </a:rPr>
              <a:t>Stages already at their lower bound are skipped, so a calm day solves fast.</a:t>
            </a:r>
            <a:endParaRPr lang="en-US" sz="13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order 2: the ladder reorders with the situation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40233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operations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 deterioration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Renewable surplus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Evening ramp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spike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outage / low charge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Transmission constraint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spike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unit failure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legend card"/>
          <p:cNvSpPr/>
          <p:nvPr/>
        </p:nvSpPr>
        <p:spPr>
          <a:xfrm>
            <a:off x="8823960" y="1325880"/>
            <a:ext cx="2834640" cy="4114800"/>
          </a:xfrm>
          <a:prstGeom prst="roundRect">
            <a:avLst>
              <a:gd name="adj" fmla="val 3226"/>
            </a:avLst>
          </a:prstGeom>
          <a:solidFill>
            <a:srgbClr val="16213A"/>
          </a:solidFill>
          <a:ln w="9525">
            <a:solidFill>
              <a:srgbClr val="16213A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9052560" y="1481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table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9052560" y="1920240"/>
            <a:ext cx="24231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6E2F5"/>
                </a:solidFill>
              </a:rPr>
              <a:t>Security is a hard constraint and always first. Highlighted cells moved versus the normal ladder.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6E2F5"/>
                </a:solidFill>
              </a:rPr>
              <a:t>Surplus puts renewable use above cost.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6E2F5"/>
                </a:solidFill>
              </a:rPr>
              <a:t>Evening ramp and line limits rank cost above DSM exposure.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6E2F5"/>
                </a:solidFill>
              </a:rPr>
              <a:t>Frequency, demand spike and unit failure keep the default order but unlock demand response and restrict merchant sales.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5321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events at once: profiles are merged by severity- and confidence-weighted rank aggregation, with extra weight for known interactions (for example evening ramp with a battery outage). The reasoning for each ranking is recorded.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order 3: what happens in a shortage</a:t>
            </a:r>
            <a:endParaRPr lang="en-US" sz="3400" dirty="0"/>
          </a:p>
        </p:txBody>
      </p:sp>
      <p:sp>
        <p:nvSpPr>
          <p:cNvPr id="3" name="ladder step"/>
          <p:cNvSpPr/>
          <p:nvPr/>
        </p:nvSpPr>
        <p:spPr>
          <a:xfrm>
            <a:off x="548640" y="1371600"/>
            <a:ext cx="5760720" cy="640080"/>
          </a:xfrm>
          <a:prstGeom prst="roundRect">
            <a:avLst>
              <a:gd name="adj" fmla="val 14286"/>
            </a:avLst>
          </a:prstGeom>
          <a:solidFill>
            <a:srgbClr val="16213A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1499616"/>
            <a:ext cx="429768" cy="42976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" y="149961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42646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up thermal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unit first, within ramp and capacity</a:t>
            </a:r>
            <a:endParaRPr lang="en-US" sz="1100" dirty="0"/>
          </a:p>
        </p:txBody>
      </p:sp>
      <p:sp>
        <p:nvSpPr>
          <p:cNvPr id="8" name="ladder step"/>
          <p:cNvSpPr/>
          <p:nvPr/>
        </p:nvSpPr>
        <p:spPr>
          <a:xfrm>
            <a:off x="804672" y="2103120"/>
            <a:ext cx="5504688" cy="640080"/>
          </a:xfrm>
          <a:prstGeom prst="roundRect">
            <a:avLst>
              <a:gd name="adj" fmla="val 14286"/>
            </a:avLst>
          </a:prstGeom>
          <a:solidFill>
            <a:srgbClr val="16213A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" y="2231136"/>
            <a:ext cx="429768" cy="42976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223113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90472" y="2157984"/>
            <a:ext cx="4681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import and market purchases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490472" y="2468880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Whichever is cheaper</a:t>
            </a:r>
            <a:endParaRPr lang="en-US" sz="1100" dirty="0"/>
          </a:p>
        </p:txBody>
      </p:sp>
      <p:sp>
        <p:nvSpPr>
          <p:cNvPr id="13" name="ladder step"/>
          <p:cNvSpPr/>
          <p:nvPr/>
        </p:nvSpPr>
        <p:spPr>
          <a:xfrm>
            <a:off x="1060704" y="2834640"/>
            <a:ext cx="5248656" cy="640080"/>
          </a:xfrm>
          <a:prstGeom prst="roundRect">
            <a:avLst>
              <a:gd name="adj" fmla="val 14286"/>
            </a:avLst>
          </a:prstGeom>
          <a:solidFill>
            <a:srgbClr val="16213A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88720" y="2962656"/>
            <a:ext cx="429768" cy="42976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88720" y="296265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746504" y="2889504"/>
            <a:ext cx="4425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response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746504" y="3200400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or defer flexible and non-critical load; critical loads are never cut</a:t>
            </a:r>
            <a:endParaRPr lang="en-US" sz="1100" dirty="0"/>
          </a:p>
        </p:txBody>
      </p:sp>
      <p:sp>
        <p:nvSpPr>
          <p:cNvPr id="18" name="ladder step"/>
          <p:cNvSpPr/>
          <p:nvPr/>
        </p:nvSpPr>
        <p:spPr>
          <a:xfrm>
            <a:off x="1316736" y="3566160"/>
            <a:ext cx="4992624" cy="640080"/>
          </a:xfrm>
          <a:prstGeom prst="roundRect">
            <a:avLst>
              <a:gd name="adj" fmla="val 14286"/>
            </a:avLst>
          </a:prstGeom>
          <a:solidFill>
            <a:srgbClr val="16213A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44752" y="3694176"/>
            <a:ext cx="429768" cy="429768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444752" y="369417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2002536" y="3621024"/>
            <a:ext cx="4169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 and battery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2002536" y="3931920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battery below its normal reserve floor</a:t>
            </a:r>
            <a:endParaRPr lang="en-US" sz="1100" dirty="0"/>
          </a:p>
        </p:txBody>
      </p:sp>
      <p:sp>
        <p:nvSpPr>
          <p:cNvPr id="23" name="ladder step"/>
          <p:cNvSpPr/>
          <p:nvPr/>
        </p:nvSpPr>
        <p:spPr>
          <a:xfrm>
            <a:off x="1572768" y="4297680"/>
            <a:ext cx="4736592" cy="640080"/>
          </a:xfrm>
          <a:prstGeom prst="roundRect">
            <a:avLst>
              <a:gd name="adj" fmla="val 14286"/>
            </a:avLst>
          </a:prstGeom>
          <a:solidFill>
            <a:srgbClr val="16213A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00784" y="4425696"/>
            <a:ext cx="429768" cy="429768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700784" y="442569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2258568" y="4352544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Curb committed exchange sales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2258568" y="466344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delivering sold energy; settled as a deviation</a:t>
            </a:r>
            <a:endParaRPr lang="en-US" sz="1100" dirty="0"/>
          </a:p>
        </p:txBody>
      </p:sp>
      <p:sp>
        <p:nvSpPr>
          <p:cNvPr id="28" name="ladder step"/>
          <p:cNvSpPr/>
          <p:nvPr/>
        </p:nvSpPr>
        <p:spPr>
          <a:xfrm>
            <a:off x="1828800" y="5029200"/>
            <a:ext cx="4480560" cy="640080"/>
          </a:xfrm>
          <a:prstGeom prst="roundRect">
            <a:avLst>
              <a:gd name="adj" fmla="val 14286"/>
            </a:avLst>
          </a:prstGeom>
          <a:solidFill>
            <a:srgbClr val="16213A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56816" y="5157216"/>
            <a:ext cx="429768" cy="429768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956816" y="515721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2514600" y="508406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resort: disruption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2514600" y="5394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across all customers, flagged red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8521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releases one lever at a time, and the next only when the shortage requires it; each plan records which levels it used.</a:t>
            </a:r>
            <a:endParaRPr lang="en-US" sz="1250" dirty="0"/>
          </a:p>
        </p:txBody>
      </p:sp>
      <p:sp>
        <p:nvSpPr>
          <p:cNvPr id="34" name="frame cuts_customers.png"/>
          <p:cNvSpPr/>
          <p:nvPr/>
        </p:nvSpPr>
        <p:spPr>
          <a:xfrm>
            <a:off x="6537960" y="1371113"/>
            <a:ext cx="5166360" cy="2104095"/>
          </a:xfrm>
          <a:prstGeom prst="roundRect">
            <a:avLst>
              <a:gd name="adj" fmla="val 2607"/>
            </a:avLst>
          </a:prstGeom>
          <a:solidFill>
            <a:srgbClr val="22304A"/>
          </a:solidFill>
          <a:ln w="6350">
            <a:solidFill>
              <a:srgbClr val="22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pic>
        <p:nvPicPr>
          <p:cNvPr id="35" name="cuts_customers.png" descr="Customers with cut pil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416833"/>
            <a:ext cx="5074920" cy="2012655"/>
          </a:xfrm>
          <a:prstGeom prst="rect">
            <a:avLst/>
          </a:prstGeom>
        </p:spPr>
      </p:pic>
      <p:sp>
        <p:nvSpPr>
          <p:cNvPr id="36" name="frame cuts_sit.png"/>
          <p:cNvSpPr/>
          <p:nvPr/>
        </p:nvSpPr>
        <p:spPr>
          <a:xfrm>
            <a:off x="6650301" y="3657600"/>
            <a:ext cx="1878439" cy="2697480"/>
          </a:xfrm>
          <a:prstGeom prst="roundRect">
            <a:avLst>
              <a:gd name="adj" fmla="val 2921"/>
            </a:avLst>
          </a:prstGeom>
          <a:solidFill>
            <a:srgbClr val="22304A"/>
          </a:solidFill>
          <a:ln w="6350">
            <a:solidFill>
              <a:srgbClr val="22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pic>
        <p:nvPicPr>
          <p:cNvPr id="37" name="cuts_sit.png" descr="Current situation and strateg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021" y="3703320"/>
            <a:ext cx="1786999" cy="2606040"/>
          </a:xfrm>
          <a:prstGeom prst="rect">
            <a:avLst/>
          </a:prstGeom>
        </p:spPr>
      </p:pic>
      <p:sp>
        <p:nvSpPr>
          <p:cNvPr id="38" name="Text 34"/>
          <p:cNvSpPr txBox="1"/>
          <p:nvPr/>
        </p:nvSpPr>
        <p:spPr>
          <a:xfrm>
            <a:off x="8869680" y="3749040"/>
            <a:ext cx="2788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Korba tripped and demand surged 40%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6E2F5"/>
                </a:solidFill>
              </a:rPr>
              <a:t>The Situation card names both events and states the strategy: discharge the battery, buy on the exchange, draw contract power, cut flexible load.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D6E2F5"/>
                </a:solidFill>
              </a:rPr>
              <a:t>The pills "cut 9 MW" and "cut 34 MW" are the flexible customers the ladder reached.</a:t>
            </a:r>
            <a:endParaRPr lang="en-US" sz="13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FA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timing: what happens now vs next interval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2148840"/>
            <a:ext cx="11064240" cy="0"/>
          </a:xfrm>
          <a:prstGeom prst="line">
            <a:avLst/>
          </a:prstGeom>
          <a:noFill/>
          <a:ln w="25400">
            <a:solidFill>
              <a:srgbClr val="7F8FA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09344" y="2020824"/>
            <a:ext cx="256032" cy="256032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starts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078224" y="2020824"/>
            <a:ext cx="256032" cy="256032"/>
          </a:xfrm>
          <a:prstGeom prst="ellipse">
            <a:avLst/>
          </a:prstGeom>
          <a:solidFill>
            <a:schemeClr val="accent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0896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occurs in the block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21424" y="2020824"/>
            <a:ext cx="256032" cy="256032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ends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564624" y="2020824"/>
            <a:ext cx="256032" cy="256032"/>
          </a:xfrm>
          <a:prstGeom prst="ellipse">
            <a:avLst/>
          </a:prstGeom>
          <a:solidFill>
            <a:schemeClr val="accent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block: new plan acts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548640" y="2606040"/>
            <a:ext cx="54406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13" name="lane tab"/>
          <p:cNvSpPr/>
          <p:nvPr/>
        </p:nvSpPr>
        <p:spPr>
          <a:xfrm>
            <a:off x="777240" y="2788920"/>
            <a:ext cx="128016" cy="64008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27432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current block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1089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facts and protection only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566160"/>
            <a:ext cx="4892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C"/>
                </a:solidFill>
              </a:rPr>
              <a:t>Generation and demand are what they actually are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C"/>
                </a:solidFill>
              </a:rPr>
              <a:t>A tripped unit is lost at once; cards, customers and alerts change immediately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C"/>
                </a:solidFill>
              </a:rPr>
              <a:t>Plant follows its schedule; exchange and contract volumes stay fixed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C"/>
                </a:solidFill>
              </a:rPr>
              <a:t>Planned battery charging stops if the block is short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C"/>
                </a:solidFill>
              </a:rPr>
              <a:t>Over-drawal is supplied by the grid and settled as a deviation (DSM)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C"/>
                </a:solidFill>
              </a:rPr>
              <a:t>Emergency load cut only if limits force it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6172200" y="2606040"/>
            <a:ext cx="54406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18" name="lane tab"/>
          <p:cNvSpPr/>
          <p:nvPr/>
        </p:nvSpPr>
        <p:spPr>
          <a:xfrm>
            <a:off x="6400800" y="2788920"/>
            <a:ext cx="128016" cy="64008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0" y="27432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next block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31089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re-dispatch by the agent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566160"/>
            <a:ext cx="4892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C"/>
                </a:solidFill>
              </a:rPr>
              <a:t>Start, stop or ramp units (after any restart time)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C"/>
                </a:solidFill>
              </a:rPr>
              <a:t>Buy or sell on the exchange; draw contract power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C"/>
                </a:solidFill>
              </a:rPr>
              <a:t>Reshape the battery plan; curtail renewables if needed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C"/>
                </a:solidFill>
              </a:rPr>
              <a:t>Cut or defer flexible load (shortage ladder)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C"/>
                </a:solidFill>
              </a:rPr>
              <a:t>Actions list shows only differences from the committed schedule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 an event follows the same rule: the current block updates at once, the agent re-plans from the next block.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timing and deviation settlement (DSM)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market windows</a:t>
            </a:r>
            <a:endParaRPr lang="en-US" sz="1800" dirty="0"/>
          </a:p>
        </p:txBody>
      </p:sp>
      <p:sp>
        <p:nvSpPr>
          <p:cNvPr id="4" name="card"/>
          <p:cNvSpPr/>
          <p:nvPr/>
        </p:nvSpPr>
        <p:spPr>
          <a:xfrm>
            <a:off x="548640" y="1783080"/>
            <a:ext cx="5029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65960"/>
            <a:ext cx="128016" cy="6858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874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Day-ahead (DAM)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4028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Bids for a delivery day close at 10:00 on the day before. After that the position is fixed and committing is refused.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548640" y="2971800"/>
            <a:ext cx="5029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3154680"/>
            <a:ext cx="128016" cy="6858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063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(RTM)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42900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Bids close 4 blocks (1 hour) before delivery; every re-plan can adjust blocks beyond that gate.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51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DSM works in GridPilot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66344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</a:rPr>
              <a:t>Allowed band: 10% of the scheduled net drawal (at least 20 MW at the 200 MW base).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</a:rPr>
              <a:t>Over-drawal is charged at the reference price; beyond the band the rate rises (x1.2, then x1.5) up to a ₹12/kWh cap.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</a:rPr>
              <a:t>Under-drawal earns a credit (about 90% of the price) inside the band only. A negative figure is a credit.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</a:rPr>
              <a:t>Parameters are editable; CERC DSM 2024-inspired, not settlement-grade.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5943600" y="1325880"/>
            <a:ext cx="5715000" cy="493776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172200" y="144475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cost of one block against deviation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1783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200 MW, ACP ₹6/kWh, 50 Hz. ₹ thousand per block; credit shown below zero</a:t>
            </a:r>
            <a:endParaRPr lang="en-US" sz="11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6080760" y="2103120"/>
          <a:ext cx="54406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 / RTM planning workbench</a:t>
            </a:r>
            <a:endParaRPr lang="en-US" sz="3400" dirty="0"/>
          </a:p>
        </p:txBody>
      </p:sp>
      <p:sp>
        <p:nvSpPr>
          <p:cNvPr id="3" name="frame plan_top.png"/>
          <p:cNvSpPr/>
          <p:nvPr/>
        </p:nvSpPr>
        <p:spPr>
          <a:xfrm>
            <a:off x="502920" y="1296028"/>
            <a:ext cx="7772400" cy="5043183"/>
          </a:xfrm>
          <a:prstGeom prst="roundRect">
            <a:avLst>
              <a:gd name="adj" fmla="val 1088"/>
            </a:avLst>
          </a:prstGeom>
          <a:solidFill>
            <a:srgbClr val="22304A"/>
          </a:solidFill>
          <a:ln w="6350">
            <a:solidFill>
              <a:srgbClr val="22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pic>
        <p:nvPicPr>
          <p:cNvPr id="4" name="plan_top.png" descr="Planning workben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41748"/>
            <a:ext cx="7680960" cy="495174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03920" y="1371600"/>
            <a:ext cx="3200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B1220"/>
                </a:solidFill>
              </a:rPr>
              <a:t>Optimise a day-ahead or intraday schedule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33415C"/>
                </a:solidFill>
              </a:rPr>
              <a:t>Same engine as the live loop, for any delivery day.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503920" y="2633472"/>
            <a:ext cx="3200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B1220"/>
                </a:solidFill>
              </a:rPr>
              <a:t>What-if levers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33415C"/>
                </a:solidFill>
              </a:rPr>
              <a:t>Solar, wind, demand and price shifts, battery availability, a unit outage, carbon price.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3895344"/>
            <a:ext cx="3200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B1220"/>
                </a:solidFill>
              </a:rPr>
              <a:t>Monte-Carlo risk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33415C"/>
                </a:solidFill>
              </a:rPr>
              <a:t>30 forecast-error scenarios replayed through the real-time physics: cost P10 to P90, expected DSM, minimum battery charge.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5157216"/>
            <a:ext cx="3200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B1220"/>
                </a:solidFill>
              </a:rPr>
              <a:t>Commit bids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33415C"/>
                </a:solidFill>
              </a:rPr>
              <a:t>Day-ahead bids until 10:00 on D-1; real-time bids beyond the gate. After the deadline it is analysis only.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Lab: rehearse the bad day</a:t>
            </a:r>
            <a:endParaRPr lang="en-US" sz="3400" dirty="0"/>
          </a:p>
        </p:txBody>
      </p:sp>
      <p:sp>
        <p:nvSpPr>
          <p:cNvPr id="3" name="frame lab_drawer_top.png"/>
          <p:cNvSpPr/>
          <p:nvPr/>
        </p:nvSpPr>
        <p:spPr>
          <a:xfrm>
            <a:off x="847192" y="1325880"/>
            <a:ext cx="2146097" cy="4983480"/>
          </a:xfrm>
          <a:prstGeom prst="roundRect">
            <a:avLst>
              <a:gd name="adj" fmla="val 2556"/>
            </a:avLst>
          </a:prstGeom>
          <a:solidFill>
            <a:srgbClr val="22304A"/>
          </a:solidFill>
          <a:ln w="6350">
            <a:solidFill>
              <a:srgbClr val="22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pic>
        <p:nvPicPr>
          <p:cNvPr id="4" name="lab_drawer_top.png" descr="Scenario Lab draw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912" y="1371600"/>
            <a:ext cx="2054657" cy="4892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0" y="13716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disturbances, each with magnitude, start and duration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3657600" y="1874520"/>
            <a:ext cx="2560320" cy="658368"/>
          </a:xfrm>
          <a:prstGeom prst="roundRect">
            <a:avLst>
              <a:gd name="adj" fmla="val 13889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794760" y="19202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burst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3794760" y="22219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drops by a chosen %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55080" y="1874520"/>
            <a:ext cx="2560320" cy="658368"/>
          </a:xfrm>
          <a:prstGeom prst="roundRect">
            <a:avLst>
              <a:gd name="adj" fmla="val 13889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9202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surge / lull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22219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rises or falls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052560" y="1874520"/>
            <a:ext cx="2560320" cy="658368"/>
          </a:xfrm>
          <a:prstGeom prst="roundRect">
            <a:avLst>
              <a:gd name="adj" fmla="val 13889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89720" y="19202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spike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9189720" y="22219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price up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0" y="2651760"/>
            <a:ext cx="2560320" cy="658368"/>
          </a:xfrm>
          <a:prstGeom prst="roundRect">
            <a:avLst>
              <a:gd name="adj" fmla="val 13889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94760" y="269748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trips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3794760" y="29992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all units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355080" y="2651760"/>
            <a:ext cx="2560320" cy="658368"/>
          </a:xfrm>
          <a:prstGeom prst="roundRect">
            <a:avLst>
              <a:gd name="adj" fmla="val 13889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92240" y="269748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capacity cut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92240" y="29992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limit reduced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052560" y="2651760"/>
            <a:ext cx="2560320" cy="658368"/>
          </a:xfrm>
          <a:prstGeom prst="roundRect">
            <a:avLst>
              <a:gd name="adj" fmla="val 13889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89720" y="269748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surge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9189720" y="29992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customer or all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657600" y="3429000"/>
            <a:ext cx="2560320" cy="658368"/>
          </a:xfrm>
          <a:prstGeom prst="roundRect">
            <a:avLst>
              <a:gd name="adj" fmla="val 13889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794760" y="347472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unit trip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3794760" y="37764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unit or all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355080" y="3429000"/>
            <a:ext cx="2560320" cy="658368"/>
          </a:xfrm>
          <a:prstGeom prst="roundRect">
            <a:avLst>
              <a:gd name="adj" fmla="val 13889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92240" y="347472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 alert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6492240" y="37764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announced ahead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9052560" y="3429000"/>
            <a:ext cx="2560320" cy="658368"/>
          </a:xfrm>
          <a:prstGeom prst="roundRect">
            <a:avLst>
              <a:gd name="adj" fmla="val 13889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189720" y="347472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update</a:t>
            </a:r>
            <a:endParaRPr lang="en-US" sz="1350" dirty="0"/>
          </a:p>
        </p:txBody>
      </p:sp>
      <p:sp>
        <p:nvSpPr>
          <p:cNvPr id="32" name="Text 29"/>
          <p:cNvSpPr txBox="1"/>
          <p:nvPr/>
        </p:nvSpPr>
        <p:spPr>
          <a:xfrm>
            <a:off x="9189720" y="37764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refreshed forecasts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3657600" y="4434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3657600" y="477316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event in the current block shows on the cards, customers and alerts at once.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6355080" y="4434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response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6355080" y="477316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reacts from the next block, as a control room would.</a:t>
            </a:r>
            <a:endParaRPr lang="en-US" sz="1250" dirty="0"/>
          </a:p>
        </p:txBody>
      </p:sp>
      <p:sp>
        <p:nvSpPr>
          <p:cNvPr id="37" name="Text 34"/>
          <p:cNvSpPr txBox="1"/>
          <p:nvPr/>
        </p:nvSpPr>
        <p:spPr>
          <a:xfrm>
            <a:off x="9052560" y="4434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recovery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9052560" y="477316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tripped unit needs its restart time (Korba 2 h, Sipat 1.5 h, Dahej 30 min by default) before it can return.</a:t>
            </a:r>
            <a:endParaRPr lang="en-US" sz="125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FA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comes with a reason</a:t>
            </a:r>
            <a:endParaRPr lang="en-US" sz="3400" dirty="0"/>
          </a:p>
        </p:txBody>
      </p:sp>
      <p:sp>
        <p:nvSpPr>
          <p:cNvPr id="3" name="frame cuts_sit.png"/>
          <p:cNvSpPr/>
          <p:nvPr/>
        </p:nvSpPr>
        <p:spPr>
          <a:xfrm>
            <a:off x="502920" y="1382078"/>
            <a:ext cx="3337560" cy="4825365"/>
          </a:xfrm>
          <a:prstGeom prst="roundRect">
            <a:avLst>
              <a:gd name="adj" fmla="val 1644"/>
            </a:avLst>
          </a:prstGeom>
          <a:solidFill>
            <a:srgbClr val="22304A"/>
          </a:solidFill>
          <a:ln w="6350">
            <a:solidFill>
              <a:srgbClr val="22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pic>
        <p:nvPicPr>
          <p:cNvPr id="4" name="cuts_sit.png" descr="Agent current situation and actio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27798"/>
            <a:ext cx="3246120" cy="4733925"/>
          </a:xfrm>
          <a:prstGeom prst="rect">
            <a:avLst/>
          </a:prstGeom>
        </p:spPr>
      </p:pic>
      <p:sp>
        <p:nvSpPr>
          <p:cNvPr id="5" name="frame ask_ans.png"/>
          <p:cNvSpPr/>
          <p:nvPr/>
        </p:nvSpPr>
        <p:spPr>
          <a:xfrm>
            <a:off x="4023360" y="1382078"/>
            <a:ext cx="3337560" cy="4825365"/>
          </a:xfrm>
          <a:prstGeom prst="roundRect">
            <a:avLst>
              <a:gd name="adj" fmla="val 1644"/>
            </a:avLst>
          </a:prstGeom>
          <a:solidFill>
            <a:srgbClr val="22304A"/>
          </a:solidFill>
          <a:ln w="6350">
            <a:solidFill>
              <a:srgbClr val="22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pic>
        <p:nvPicPr>
          <p:cNvPr id="6" name="ask_ans.png" descr="Ask the Agent answ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1427798"/>
            <a:ext cx="3246120" cy="473392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619963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tab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4069080" y="619963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tab: a live answer</a:t>
            </a:r>
            <a:endParaRPr lang="en-US" sz="1000" dirty="0"/>
          </a:p>
        </p:txBody>
      </p:sp>
      <p:sp>
        <p:nvSpPr>
          <p:cNvPr id="9" name="card"/>
          <p:cNvSpPr/>
          <p:nvPr/>
        </p:nvSpPr>
        <p:spPr>
          <a:xfrm>
            <a:off x="7680960" y="1371600"/>
            <a:ext cx="397764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10" name="icon bg"/>
          <p:cNvSpPr/>
          <p:nvPr/>
        </p:nvSpPr>
        <p:spPr>
          <a:xfrm>
            <a:off x="7863840" y="1673352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1" name="Image 2" descr="BalanceScal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9570" y="1799082"/>
            <a:ext cx="251460" cy="2514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503920" y="1444752"/>
            <a:ext cx="30175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0B1220"/>
                </a:solidFill>
              </a:rPr>
              <a:t>Actions that matter</a:t>
            </a:r>
            <a:endParaRPr lang="en-US" sz="1450" dirty="0"/>
          </a:p>
          <a:p>
            <a:pPr marL="0" indent="0">
              <a:buNone/>
            </a:pPr>
            <a:r>
              <a:rPr lang="en-US" sz="1150" dirty="0">
                <a:solidFill>
                  <a:srgbClr val="33415C"/>
                </a:solidFill>
              </a:rPr>
              <a:t>The list shows only what differs from the committed schedule (1 MW or more), each with its reason, criterion and the alternative that lost.</a:t>
            </a:r>
            <a:endParaRPr lang="en-US" sz="1450" dirty="0"/>
          </a:p>
        </p:txBody>
      </p:sp>
      <p:sp>
        <p:nvSpPr>
          <p:cNvPr id="13" name="card"/>
          <p:cNvSpPr/>
          <p:nvPr/>
        </p:nvSpPr>
        <p:spPr>
          <a:xfrm>
            <a:off x="7680960" y="2606040"/>
            <a:ext cx="397764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14" name="icon bg"/>
          <p:cNvSpPr/>
          <p:nvPr/>
        </p:nvSpPr>
        <p:spPr>
          <a:xfrm>
            <a:off x="7863840" y="2907792"/>
            <a:ext cx="502920" cy="502920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15" name="Image 3" descr="Search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9570" y="3033522"/>
            <a:ext cx="251460" cy="2514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503920" y="2679192"/>
            <a:ext cx="30175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0B1220"/>
                </a:solidFill>
              </a:rPr>
              <a:t>Why this order</a:t>
            </a:r>
            <a:endParaRPr lang="en-US" sz="1450" dirty="0"/>
          </a:p>
          <a:p>
            <a:pPr marL="0" indent="0">
              <a:buNone/>
            </a:pPr>
            <a:r>
              <a:rPr lang="en-US" sz="1150" dirty="0">
                <a:solidFill>
                  <a:srgbClr val="33415C"/>
                </a:solidFill>
              </a:rPr>
              <a:t>The Criteria and Reasoning tabs show the active profile, which objective is binding, and shadow prices such as "stored energy is worth ₹9.26/kWh".</a:t>
            </a:r>
            <a:endParaRPr lang="en-US" sz="1450" dirty="0"/>
          </a:p>
        </p:txBody>
      </p:sp>
      <p:sp>
        <p:nvSpPr>
          <p:cNvPr id="17" name="card"/>
          <p:cNvSpPr/>
          <p:nvPr/>
        </p:nvSpPr>
        <p:spPr>
          <a:xfrm>
            <a:off x="7680960" y="3840480"/>
            <a:ext cx="397764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18" name="icon bg"/>
          <p:cNvSpPr/>
          <p:nvPr/>
        </p:nvSpPr>
        <p:spPr>
          <a:xfrm>
            <a:off x="7863840" y="4142232"/>
            <a:ext cx="502920" cy="50292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9" name="Image 4" descr="Comments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9570" y="4267962"/>
            <a:ext cx="251460" cy="25146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503920" y="3913632"/>
            <a:ext cx="30175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0B1220"/>
                </a:solidFill>
              </a:rPr>
              <a:t>Ask the Agent</a:t>
            </a:r>
            <a:endParaRPr lang="en-US" sz="1450" dirty="0"/>
          </a:p>
          <a:p>
            <a:pPr marL="0" indent="0">
              <a:buNone/>
            </a:pPr>
            <a:r>
              <a:rPr lang="en-US" sz="1150" dirty="0">
                <a:solidFill>
                  <a:srgbClr val="33415C"/>
                </a:solidFill>
              </a:rPr>
              <a:t>Questions are answered from the live data and the app's rules only. A figure that is not in the data is flagged. Falls back to rule-based answers.</a:t>
            </a:r>
            <a:endParaRPr lang="en-US" sz="1450" dirty="0"/>
          </a:p>
        </p:txBody>
      </p:sp>
      <p:sp>
        <p:nvSpPr>
          <p:cNvPr id="21" name="card"/>
          <p:cNvSpPr/>
          <p:nvPr/>
        </p:nvSpPr>
        <p:spPr>
          <a:xfrm>
            <a:off x="7680960" y="5074920"/>
            <a:ext cx="397764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22" name="icon bg"/>
          <p:cNvSpPr/>
          <p:nvPr/>
        </p:nvSpPr>
        <p:spPr>
          <a:xfrm>
            <a:off x="7863840" y="5376672"/>
            <a:ext cx="502920" cy="50292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23" name="Image 5" descr="CheckCircle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9570" y="5502402"/>
            <a:ext cx="251460" cy="25146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503920" y="5148072"/>
            <a:ext cx="30175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0B1220"/>
                </a:solidFill>
              </a:rPr>
              <a:t>Audit and verification</a:t>
            </a:r>
            <a:endParaRPr lang="en-US" sz="1450" dirty="0"/>
          </a:p>
          <a:p>
            <a:pPr marL="0" indent="0">
              <a:buNone/>
            </a:pPr>
            <a:r>
              <a:rPr lang="en-US" sz="1150" dirty="0">
                <a:solidFill>
                  <a:srgbClr val="33415C"/>
                </a:solidFill>
              </a:rPr>
              <a:t>Every run records the situation, profile, binding constraints, selected actions and alternatives; every plan is independently re-checked.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today, and what comes next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6720840" cy="493776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where the AI sits</a:t>
            </a:r>
            <a:endParaRPr lang="en-US" sz="1600" dirty="0"/>
          </a:p>
        </p:txBody>
      </p:sp>
      <p:sp>
        <p:nvSpPr>
          <p:cNvPr id="5" name="band EXPERIENCE"/>
          <p:cNvSpPr/>
          <p:nvPr/>
        </p:nvSpPr>
        <p:spPr>
          <a:xfrm>
            <a:off x="731520" y="1810512"/>
            <a:ext cx="6355080" cy="566928"/>
          </a:xfrm>
          <a:prstGeom prst="roundRect">
            <a:avLst>
              <a:gd name="adj" fmla="val 12903"/>
            </a:avLst>
          </a:prstGeom>
          <a:solidFill>
            <a:srgbClr val="F3F6FB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47088"/>
            <a:ext cx="6080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950" dirty="0"/>
          </a:p>
        </p:txBody>
      </p:sp>
      <p:sp>
        <p:nvSpPr>
          <p:cNvPr id="7" name="chip React 19 · Vite · Recharts"/>
          <p:cNvSpPr/>
          <p:nvPr/>
        </p:nvSpPr>
        <p:spPr>
          <a:xfrm>
            <a:off x="822960" y="2029968"/>
            <a:ext cx="2011680" cy="310896"/>
          </a:xfrm>
          <a:prstGeom prst="roundRect">
            <a:avLst>
              <a:gd name="adj" fmla="val 20588"/>
            </a:avLst>
          </a:prstGeom>
          <a:solidFill>
            <a:srgbClr val="D8E3FA"/>
          </a:solidFill>
          <a:ln w="6350">
            <a:solidFill>
              <a:srgbClr val="D8E3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86968" y="2029968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</a:rPr>
              <a:t>React 19 · Vite · Recharts</a:t>
            </a:r>
            <a:endParaRPr lang="en-US" sz="1100" dirty="0"/>
          </a:p>
        </p:txBody>
      </p:sp>
      <p:sp>
        <p:nvSpPr>
          <p:cNvPr id="9" name="chip REST + live stream (SSE)"/>
          <p:cNvSpPr/>
          <p:nvPr/>
        </p:nvSpPr>
        <p:spPr>
          <a:xfrm>
            <a:off x="2907792" y="2029968"/>
            <a:ext cx="2240280" cy="310896"/>
          </a:xfrm>
          <a:prstGeom prst="roundRect">
            <a:avLst>
              <a:gd name="adj" fmla="val 20588"/>
            </a:avLst>
          </a:prstGeom>
          <a:solidFill>
            <a:srgbClr val="D8E3FA"/>
          </a:solidFill>
          <a:ln w="6350">
            <a:solidFill>
              <a:srgbClr val="D8E3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71800" y="2029968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</a:rPr>
              <a:t>REST + live stream (SSE)</a:t>
            </a:r>
            <a:endParaRPr lang="en-US" sz="1100" dirty="0"/>
          </a:p>
        </p:txBody>
      </p:sp>
      <p:sp>
        <p:nvSpPr>
          <p:cNvPr id="11" name="chip Ask the Agent"/>
          <p:cNvSpPr/>
          <p:nvPr/>
        </p:nvSpPr>
        <p:spPr>
          <a:xfrm>
            <a:off x="5221224" y="2029968"/>
            <a:ext cx="1691640" cy="310896"/>
          </a:xfrm>
          <a:prstGeom prst="roundRect">
            <a:avLst>
              <a:gd name="adj" fmla="val 20588"/>
            </a:avLst>
          </a:prstGeom>
          <a:solidFill>
            <a:srgbClr val="D8E3FA"/>
          </a:solidFill>
          <a:ln w="6350">
            <a:solidFill>
              <a:srgbClr val="D8E3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85232" y="202996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</a:rPr>
              <a:t>Ask the Agent</a:t>
            </a:r>
            <a:endParaRPr lang="en-US" sz="1100" dirty="0"/>
          </a:p>
        </p:txBody>
      </p:sp>
      <p:sp>
        <p:nvSpPr>
          <p:cNvPr id="13" name="band AGENT LOOP  (Node 24 · Express · TypeScript, every block)"/>
          <p:cNvSpPr/>
          <p:nvPr/>
        </p:nvSpPr>
        <p:spPr>
          <a:xfrm>
            <a:off x="731520" y="2450592"/>
            <a:ext cx="6355080" cy="1024128"/>
          </a:xfrm>
          <a:prstGeom prst="roundRect">
            <a:avLst>
              <a:gd name="adj" fmla="val 7143"/>
            </a:avLst>
          </a:prstGeom>
          <a:solidFill>
            <a:srgbClr val="F3F6FB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487168"/>
            <a:ext cx="6080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  (Node 24 · Express · TypeScript, every block)</a:t>
            </a:r>
            <a:endParaRPr lang="en-US" sz="950" dirty="0"/>
          </a:p>
        </p:txBody>
      </p:sp>
      <p:sp>
        <p:nvSpPr>
          <p:cNvPr id="15" name="chip Digital twin"/>
          <p:cNvSpPr/>
          <p:nvPr/>
        </p:nvSpPr>
        <p:spPr>
          <a:xfrm>
            <a:off x="822960" y="2743200"/>
            <a:ext cx="1170432" cy="621792"/>
          </a:xfrm>
          <a:prstGeom prst="roundRect">
            <a:avLst>
              <a:gd name="adj" fmla="val 10294"/>
            </a:avLst>
          </a:prstGeom>
          <a:solidFill>
            <a:srgbClr val="E3DEFB"/>
          </a:solidFill>
          <a:ln w="6350">
            <a:solidFill>
              <a:srgbClr val="E3DE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6968" y="2743200"/>
            <a:ext cx="1042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</a:rPr>
              <a:t>Digital twin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D4D"/>
                </a:solidFill>
              </a:rPr>
              <a:t>truth vs forecast</a:t>
            </a:r>
            <a:endParaRPr lang="en-US" sz="1100" dirty="0"/>
          </a:p>
        </p:txBody>
      </p:sp>
      <p:sp>
        <p:nvSpPr>
          <p:cNvPr id="17" name="arrow"/>
          <p:cNvSpPr/>
          <p:nvPr/>
        </p:nvSpPr>
        <p:spPr>
          <a:xfrm>
            <a:off x="1993392" y="3054096"/>
            <a:ext cx="91440" cy="0"/>
          </a:xfrm>
          <a:prstGeom prst="line">
            <a:avLst/>
          </a:prstGeom>
          <a:noFill/>
          <a:ln w="15875">
            <a:solidFill>
              <a:srgbClr val="5B6B84"/>
            </a:solidFill>
            <a:prstDash val="solid"/>
            <a:tailEnd type="triangle"/>
          </a:ln>
        </p:spPr>
      </p:sp>
      <p:sp>
        <p:nvSpPr>
          <p:cNvPr id="18" name="chip Situation"/>
          <p:cNvSpPr/>
          <p:nvPr/>
        </p:nvSpPr>
        <p:spPr>
          <a:xfrm>
            <a:off x="2084832" y="2743200"/>
            <a:ext cx="1170432" cy="621792"/>
          </a:xfrm>
          <a:prstGeom prst="roundRect">
            <a:avLst>
              <a:gd name="adj" fmla="val 10294"/>
            </a:avLst>
          </a:prstGeom>
          <a:solidFill>
            <a:srgbClr val="E3DEFB"/>
          </a:solidFill>
          <a:ln w="6350">
            <a:solidFill>
              <a:srgbClr val="E3DE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148840" y="2743200"/>
            <a:ext cx="1042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</a:rPr>
              <a:t>Situation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D4D"/>
                </a:solidFill>
              </a:rPr>
              <a:t>9 events, hysteresis</a:t>
            </a:r>
            <a:endParaRPr lang="en-US" sz="1100" dirty="0"/>
          </a:p>
        </p:txBody>
      </p:sp>
      <p:sp>
        <p:nvSpPr>
          <p:cNvPr id="20" name="arrow"/>
          <p:cNvSpPr/>
          <p:nvPr/>
        </p:nvSpPr>
        <p:spPr>
          <a:xfrm>
            <a:off x="3255264" y="3054096"/>
            <a:ext cx="91440" cy="0"/>
          </a:xfrm>
          <a:prstGeom prst="line">
            <a:avLst/>
          </a:prstGeom>
          <a:noFill/>
          <a:ln w="15875">
            <a:solidFill>
              <a:srgbClr val="5B6B84"/>
            </a:solidFill>
            <a:prstDash val="solid"/>
            <a:tailEnd type="triangle"/>
          </a:ln>
        </p:spPr>
      </p:sp>
      <p:sp>
        <p:nvSpPr>
          <p:cNvPr id="21" name="chip Priority profile"/>
          <p:cNvSpPr/>
          <p:nvPr/>
        </p:nvSpPr>
        <p:spPr>
          <a:xfrm>
            <a:off x="3346704" y="2743200"/>
            <a:ext cx="1170432" cy="621792"/>
          </a:xfrm>
          <a:prstGeom prst="roundRect">
            <a:avLst>
              <a:gd name="adj" fmla="val 10294"/>
            </a:avLst>
          </a:prstGeom>
          <a:solidFill>
            <a:srgbClr val="E3DEFB"/>
          </a:solidFill>
          <a:ln w="6350">
            <a:solidFill>
              <a:srgbClr val="E3DEF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10712" y="2743200"/>
            <a:ext cx="1042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</a:rPr>
              <a:t>Priority profile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D4D"/>
                </a:solidFill>
              </a:rPr>
              <a:t>rank aggregation</a:t>
            </a:r>
            <a:endParaRPr lang="en-US" sz="1100" dirty="0"/>
          </a:p>
        </p:txBody>
      </p:sp>
      <p:sp>
        <p:nvSpPr>
          <p:cNvPr id="23" name="arrow"/>
          <p:cNvSpPr/>
          <p:nvPr/>
        </p:nvSpPr>
        <p:spPr>
          <a:xfrm>
            <a:off x="4517136" y="3054096"/>
            <a:ext cx="91440" cy="0"/>
          </a:xfrm>
          <a:prstGeom prst="line">
            <a:avLst/>
          </a:prstGeom>
          <a:noFill/>
          <a:ln w="15875">
            <a:solidFill>
              <a:srgbClr val="5B6B84"/>
            </a:solidFill>
            <a:prstDash val="solid"/>
            <a:tailEnd type="triangle"/>
          </a:ln>
        </p:spPr>
      </p:sp>
      <p:sp>
        <p:nvSpPr>
          <p:cNvPr id="24" name="chip Actions"/>
          <p:cNvSpPr/>
          <p:nvPr/>
        </p:nvSpPr>
        <p:spPr>
          <a:xfrm>
            <a:off x="4608576" y="2743200"/>
            <a:ext cx="1170432" cy="621792"/>
          </a:xfrm>
          <a:prstGeom prst="roundRect">
            <a:avLst>
              <a:gd name="adj" fmla="val 10294"/>
            </a:avLst>
          </a:prstGeom>
          <a:solidFill>
            <a:srgbClr val="E3DEFB"/>
          </a:solidFill>
          <a:ln w="6350">
            <a:solidFill>
              <a:srgbClr val="E3DEF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72584" y="2743200"/>
            <a:ext cx="1042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</a:rPr>
              <a:t>Actions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D4D"/>
                </a:solidFill>
              </a:rPr>
              <a:t>delta vs committed</a:t>
            </a:r>
            <a:endParaRPr lang="en-US" sz="1100" dirty="0"/>
          </a:p>
        </p:txBody>
      </p:sp>
      <p:sp>
        <p:nvSpPr>
          <p:cNvPr id="26" name="arrow"/>
          <p:cNvSpPr/>
          <p:nvPr/>
        </p:nvSpPr>
        <p:spPr>
          <a:xfrm>
            <a:off x="5779008" y="3054096"/>
            <a:ext cx="91440" cy="0"/>
          </a:xfrm>
          <a:prstGeom prst="line">
            <a:avLst/>
          </a:prstGeom>
          <a:noFill/>
          <a:ln w="15875">
            <a:solidFill>
              <a:srgbClr val="5B6B84"/>
            </a:solidFill>
            <a:prstDash val="solid"/>
            <a:tailEnd type="triangle"/>
          </a:ln>
        </p:spPr>
      </p:sp>
      <p:sp>
        <p:nvSpPr>
          <p:cNvPr id="27" name="chip Audit"/>
          <p:cNvSpPr/>
          <p:nvPr/>
        </p:nvSpPr>
        <p:spPr>
          <a:xfrm>
            <a:off x="5870448" y="2743200"/>
            <a:ext cx="1170432" cy="621792"/>
          </a:xfrm>
          <a:prstGeom prst="roundRect">
            <a:avLst>
              <a:gd name="adj" fmla="val 10294"/>
            </a:avLst>
          </a:prstGeom>
          <a:solidFill>
            <a:srgbClr val="E3DEFB"/>
          </a:solidFill>
          <a:ln w="6350">
            <a:solidFill>
              <a:srgbClr val="E3DEF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34456" y="2743200"/>
            <a:ext cx="1042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</a:rPr>
              <a:t>Audit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D4D"/>
                </a:solidFill>
              </a:rPr>
              <a:t>reason + alternative</a:t>
            </a:r>
            <a:endParaRPr lang="en-US" sz="1100" dirty="0"/>
          </a:p>
        </p:txBody>
      </p:sp>
      <p:sp>
        <p:nvSpPr>
          <p:cNvPr id="29" name="band DECISION CORE"/>
          <p:cNvSpPr/>
          <p:nvPr/>
        </p:nvSpPr>
        <p:spPr>
          <a:xfrm>
            <a:off x="731520" y="3547872"/>
            <a:ext cx="6355080" cy="1243584"/>
          </a:xfrm>
          <a:prstGeom prst="roundRect">
            <a:avLst>
              <a:gd name="adj" fmla="val 5882"/>
            </a:avLst>
          </a:prstGeom>
          <a:solidFill>
            <a:srgbClr val="F3F6FB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3584448"/>
            <a:ext cx="6080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2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CORE</a:t>
            </a:r>
            <a:endParaRPr lang="en-US" sz="950" dirty="0"/>
          </a:p>
        </p:txBody>
      </p:sp>
      <p:sp>
        <p:nvSpPr>
          <p:cNvPr id="31" name="milp box"/>
          <p:cNvSpPr/>
          <p:nvPr/>
        </p:nvSpPr>
        <p:spPr>
          <a:xfrm>
            <a:off x="822960" y="3767328"/>
            <a:ext cx="3886200" cy="969264"/>
          </a:xfrm>
          <a:prstGeom prst="roundRect">
            <a:avLst>
              <a:gd name="adj" fmla="val 6604"/>
            </a:avLst>
          </a:prstGeom>
          <a:solidFill>
            <a:srgbClr val="16213A"/>
          </a:solidFill>
          <a:ln w="6350">
            <a:solidFill>
              <a:srgbClr val="16213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3767328"/>
            <a:ext cx="3703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Lexicographic MILP · HiGHS (WebAssembly)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D6E2F5"/>
                </a:solidFill>
              </a:rPr>
              <a:t>Security, reliability, reserve, DSM, cost, renewables, battery: each stage frozen with a tolerance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D6E2F5"/>
                </a:solidFill>
              </a:rPr>
              <a:t>Two worker lanes, 45 s watchdog, time limit gives an "approximate" plan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D6E2F5"/>
                </a:solidFill>
              </a:rPr>
              <a:t>Shortage ladder: soft reserve floor, then soft sales</a:t>
            </a:r>
            <a:endParaRPr lang="en-US" sz="1100" dirty="0"/>
          </a:p>
        </p:txBody>
      </p:sp>
      <p:sp>
        <p:nvSpPr>
          <p:cNvPr id="33" name="verify box"/>
          <p:cNvSpPr/>
          <p:nvPr/>
        </p:nvSpPr>
        <p:spPr>
          <a:xfrm>
            <a:off x="4800600" y="3767328"/>
            <a:ext cx="2103120" cy="969264"/>
          </a:xfrm>
          <a:prstGeom prst="roundRect">
            <a:avLst>
              <a:gd name="adj" fmla="val 6604"/>
            </a:avLst>
          </a:prstGeom>
          <a:solidFill>
            <a:srgbClr val="C9F0E1"/>
          </a:solidFill>
          <a:ln w="6350">
            <a:solidFill>
              <a:srgbClr val="C9F0E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73752" y="3767328"/>
            <a:ext cx="19568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0"/>
                </a:solidFill>
              </a:rPr>
              <a:t>Independent verifier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1E2D4D"/>
                </a:solidFill>
              </a:rPr>
              <a:t>Re-derives balance, ramps, min up/down, battery, corridors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1E2D4D"/>
                </a:solidFill>
              </a:rPr>
              <a:t>Shadow prices (LP duals) feed the explanations</a:t>
            </a:r>
            <a:endParaRPr lang="en-US" sz="1100" dirty="0"/>
          </a:p>
        </p:txBody>
      </p:sp>
      <p:sp>
        <p:nvSpPr>
          <p:cNvPr id="35" name="band WHERE THE AI / ML IS USED"/>
          <p:cNvSpPr/>
          <p:nvPr/>
        </p:nvSpPr>
        <p:spPr>
          <a:xfrm>
            <a:off x="731520" y="4864608"/>
            <a:ext cx="6355080" cy="9144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9525">
            <a:solidFill>
              <a:srgbClr val="E1E8F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2960" y="4901184"/>
            <a:ext cx="6080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AI / ML IS USED</a:t>
            </a:r>
            <a:endParaRPr lang="en-US" sz="950" dirty="0"/>
          </a:p>
        </p:txBody>
      </p:sp>
      <p:sp>
        <p:nvSpPr>
          <p:cNvPr id="37" name="chip LLM"/>
          <p:cNvSpPr/>
          <p:nvPr/>
        </p:nvSpPr>
        <p:spPr>
          <a:xfrm>
            <a:off x="822960" y="5120640"/>
            <a:ext cx="1188720" cy="585216"/>
          </a:xfrm>
          <a:prstGeom prst="roundRect">
            <a:avLst>
              <a:gd name="adj" fmla="val 10938"/>
            </a:avLst>
          </a:prstGeom>
          <a:solidFill>
            <a:srgbClr val="FBE7B0"/>
          </a:solidFill>
          <a:ln w="6350">
            <a:solidFill>
              <a:srgbClr val="FBE7B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86968" y="5120640"/>
            <a:ext cx="10607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</a:rPr>
              <a:t>LLM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D4D"/>
                </a:solidFill>
              </a:rPr>
              <a:t>Claude: Ask the Agent only, grounded</a:t>
            </a:r>
            <a:endParaRPr lang="en-US" sz="1100" dirty="0"/>
          </a:p>
        </p:txBody>
      </p:sp>
      <p:sp>
        <p:nvSpPr>
          <p:cNvPr id="39" name="chip Optimisation"/>
          <p:cNvSpPr/>
          <p:nvPr/>
        </p:nvSpPr>
        <p:spPr>
          <a:xfrm>
            <a:off x="2084832" y="5120640"/>
            <a:ext cx="1188720" cy="585216"/>
          </a:xfrm>
          <a:prstGeom prst="roundRect">
            <a:avLst>
              <a:gd name="adj" fmla="val 10938"/>
            </a:avLst>
          </a:prstGeom>
          <a:solidFill>
            <a:srgbClr val="FBE7B0"/>
          </a:solidFill>
          <a:ln w="6350">
            <a:solidFill>
              <a:srgbClr val="FBE7B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148840" y="5120640"/>
            <a:ext cx="10607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</a:rPr>
              <a:t>Optimisation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D4D"/>
                </a:solidFill>
              </a:rPr>
              <a:t>MILP decides every dispatch</a:t>
            </a:r>
            <a:endParaRPr lang="en-US" sz="1100" dirty="0"/>
          </a:p>
        </p:txBody>
      </p:sp>
      <p:sp>
        <p:nvSpPr>
          <p:cNvPr id="41" name="chip Expert system"/>
          <p:cNvSpPr/>
          <p:nvPr/>
        </p:nvSpPr>
        <p:spPr>
          <a:xfrm>
            <a:off x="3346704" y="5120640"/>
            <a:ext cx="1188720" cy="585216"/>
          </a:xfrm>
          <a:prstGeom prst="roundRect">
            <a:avLst>
              <a:gd name="adj" fmla="val 10938"/>
            </a:avLst>
          </a:prstGeom>
          <a:solidFill>
            <a:srgbClr val="FBE7B0"/>
          </a:solidFill>
          <a:ln w="6350">
            <a:solidFill>
              <a:srgbClr val="FBE7B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410712" y="5120640"/>
            <a:ext cx="10607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</a:rPr>
              <a:t>Expert system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D4D"/>
                </a:solidFill>
              </a:rPr>
              <a:t>rules, hysteresis, ladder</a:t>
            </a:r>
            <a:endParaRPr lang="en-US" sz="1100" dirty="0"/>
          </a:p>
        </p:txBody>
      </p:sp>
      <p:sp>
        <p:nvSpPr>
          <p:cNvPr id="43" name="chip Probabilistic"/>
          <p:cNvSpPr/>
          <p:nvPr/>
        </p:nvSpPr>
        <p:spPr>
          <a:xfrm>
            <a:off x="4608576" y="5120640"/>
            <a:ext cx="1188720" cy="585216"/>
          </a:xfrm>
          <a:prstGeom prst="roundRect">
            <a:avLst>
              <a:gd name="adj" fmla="val 10938"/>
            </a:avLst>
          </a:prstGeom>
          <a:solidFill>
            <a:srgbClr val="FBE7B0"/>
          </a:solidFill>
          <a:ln w="6350">
            <a:solidFill>
              <a:srgbClr val="FBE7B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672584" y="5120640"/>
            <a:ext cx="10607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</a:rPr>
              <a:t>Probabilistic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D4D"/>
                </a:solidFill>
              </a:rPr>
              <a:t>Monte-Carlo, 30 AR(1) paths</a:t>
            </a:r>
            <a:endParaRPr lang="en-US" sz="1100" dirty="0"/>
          </a:p>
        </p:txBody>
      </p:sp>
      <p:sp>
        <p:nvSpPr>
          <p:cNvPr id="45" name="chip Forecasting"/>
          <p:cNvSpPr/>
          <p:nvPr/>
        </p:nvSpPr>
        <p:spPr>
          <a:xfrm>
            <a:off x="5870448" y="5120640"/>
            <a:ext cx="1188720" cy="585216"/>
          </a:xfrm>
          <a:prstGeom prst="roundRect">
            <a:avLst>
              <a:gd name="adj" fmla="val 10938"/>
            </a:avLst>
          </a:prstGeom>
          <a:solidFill>
            <a:srgbClr val="FBE7B0"/>
          </a:solidFill>
          <a:ln w="6350">
            <a:solidFill>
              <a:srgbClr val="FBE7B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934456" y="5120640"/>
            <a:ext cx="10607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</a:rPr>
              <a:t>Forecasting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D4D"/>
                </a:solidFill>
              </a:rPr>
              <a:t>NWP + physics + persistence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777240" y="5870448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Open-Meteo · MeritIndia · Vidyut Pravah · IEX and maintenance CSV · state.json and audit.jsonl on disk</a:t>
            </a:r>
            <a:endParaRPr lang="en-US" sz="1000" dirty="0"/>
          </a:p>
        </p:txBody>
      </p:sp>
      <p:sp>
        <p:nvSpPr>
          <p:cNvPr id="48" name="card"/>
          <p:cNvSpPr/>
          <p:nvPr/>
        </p:nvSpPr>
        <p:spPr>
          <a:xfrm>
            <a:off x="7452360" y="1371600"/>
            <a:ext cx="4206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635240" y="1938528"/>
            <a:ext cx="914400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635240" y="193852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8732520" y="15087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</a:rPr>
              <a:t>Rolling planner, scenario lab, DAM/RTM workbench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</a:rPr>
              <a:t>Explainable agent and audit trail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</a:rPr>
              <a:t>Live on Railway</a:t>
            </a:r>
            <a:endParaRPr lang="en-US" sz="1200" dirty="0"/>
          </a:p>
        </p:txBody>
      </p:sp>
      <p:sp>
        <p:nvSpPr>
          <p:cNvPr id="52" name="card"/>
          <p:cNvSpPr/>
          <p:nvPr/>
        </p:nvSpPr>
        <p:spPr>
          <a:xfrm>
            <a:off x="7452360" y="3017520"/>
            <a:ext cx="4206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635240" y="3584448"/>
            <a:ext cx="91440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635240" y="35844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8732520" y="3154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</a:rPr>
              <a:t>Validate settings and uploads; add login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</a:rPr>
              <a:t>Start-up ramps for thermal units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</a:rPr>
              <a:t>Real feeds via an India-region data gateway</a:t>
            </a:r>
            <a:endParaRPr lang="en-US" sz="1200" dirty="0"/>
          </a:p>
        </p:txBody>
      </p:sp>
      <p:sp>
        <p:nvSpPr>
          <p:cNvPr id="56" name="card"/>
          <p:cNvSpPr/>
          <p:nvPr/>
        </p:nvSpPr>
        <p:spPr>
          <a:xfrm>
            <a:off x="7452360" y="4663440"/>
            <a:ext cx="4206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7635240" y="5230368"/>
            <a:ext cx="914400" cy="38404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635240" y="52303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8732520" y="48006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</a:rPr>
              <a:t>SCADA / AMI integration; real DSM bands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</a:rPr>
              <a:t>Multi-DISCOM, multi-region portfolios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</a:rPr>
              <a:t>Learning layer for demand and price forecasts</a:t>
            </a:r>
            <a:endParaRPr lang="en-US" sz="1200" dirty="0"/>
          </a:p>
        </p:txBody>
      </p:sp>
      <p:sp>
        <p:nvSpPr>
          <p:cNvPr id="6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and technologies used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48640" y="1280160"/>
          <a:ext cx="11064240" cy="415137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 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Dispatch optimisation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Lexicographic MILP, seven ranked stages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commitment, dispatch, battery and DAM / RTM over 96 blocks; a higher rank is never traded for a lower 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HiGHS (WebAssembly) in worker threads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Weather-model data, physics, persistence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and wind MW from irradiance and wind speed; later blocks scaled by recent 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Open-Meteo NWP, PV and power-curve models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expert system with hysteresis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Nine event types, each with severity, confidence and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TypeScript policy engine, JSON policy 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selection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rank aggregation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Blends the profiles of all active events into one ranking, with interaction boosts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Monte-Carlo, 30 correlated AR(1) error paths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P10 to P90 cost, expected DSM, minimum battery charge for a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physics replay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constraint re-check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Balance, ramps, minimum up / down, battery, corridors re-derived from every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verifier 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 shadow prices and audit trail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"Stored energy is worth ₹x" and the alternative that lost, for every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HiGHS duals, audit 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grounded on live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the Agent answers only from the app's data; unverified figures are flagged; rule-based fallback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 5.5 (Anthropic API)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principle band"/>
          <p:cNvSpPr/>
          <p:nvPr/>
        </p:nvSpPr>
        <p:spPr>
          <a:xfrm>
            <a:off x="548640" y="5532120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16213A"/>
          </a:solidFill>
          <a:ln w="6350">
            <a:solidFill>
              <a:srgbClr val="16213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5532120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The optimiser decides; the LLM only explains. </a:t>
            </a:r>
            <a:r>
              <a:rPr lang="en-US" sz="1250" dirty="0">
                <a:solidFill>
                  <a:srgbClr val="D6E2F5"/>
                </a:solidFill>
              </a:rPr>
              <a:t>Every dispatch comes from the verified MILP, never from a language model. Stack: Node 24, TypeScript, Express 5, React 19, Vite, Recharts, Leaflet, server-sent events.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the app's simulated day (portfolio of 1,240 MW peak demand)</a:t>
            </a:r>
            <a:endParaRPr lang="en-US" sz="1400" dirty="0"/>
          </a:p>
        </p:txBody>
      </p:sp>
      <p:sp>
        <p:nvSpPr>
          <p:cNvPr id="4" name="stat card"/>
          <p:cNvSpPr/>
          <p:nvPr/>
        </p:nvSpPr>
        <p:spPr>
          <a:xfrm>
            <a:off x="548640" y="1508760"/>
            <a:ext cx="2633472" cy="1463040"/>
          </a:xfrm>
          <a:prstGeom prst="roundRect">
            <a:avLst>
              <a:gd name="adj" fmla="val 6250"/>
            </a:avLst>
          </a:prstGeom>
          <a:solidFill>
            <a:srgbClr val="16213A"/>
          </a:solidFill>
          <a:ln w="9525">
            <a:solidFill>
              <a:srgbClr val="16213A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used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871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117 MWh curtailed so far</a:t>
            </a:r>
            <a:endParaRPr lang="en-US" sz="1050" dirty="0"/>
          </a:p>
        </p:txBody>
      </p:sp>
      <p:sp>
        <p:nvSpPr>
          <p:cNvPr id="8" name="stat card"/>
          <p:cNvSpPr/>
          <p:nvPr/>
        </p:nvSpPr>
        <p:spPr>
          <a:xfrm>
            <a:off x="3355848" y="1508760"/>
            <a:ext cx="2633472" cy="1463040"/>
          </a:xfrm>
          <a:prstGeom prst="roundRect">
            <a:avLst>
              <a:gd name="adj" fmla="val 6250"/>
            </a:avLst>
          </a:prstGeom>
          <a:solidFill>
            <a:srgbClr val="16213A"/>
          </a:solidFill>
          <a:ln w="9525">
            <a:solidFill>
              <a:srgbClr val="16213A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38728" y="1554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538728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adequacy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38728" y="24871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block held its sized reserve</a:t>
            </a:r>
            <a:endParaRPr lang="en-US" sz="1050" dirty="0"/>
          </a:p>
        </p:txBody>
      </p:sp>
      <p:sp>
        <p:nvSpPr>
          <p:cNvPr id="12" name="stat card"/>
          <p:cNvSpPr/>
          <p:nvPr/>
        </p:nvSpPr>
        <p:spPr>
          <a:xfrm>
            <a:off x="6163056" y="1508760"/>
            <a:ext cx="2633472" cy="1463040"/>
          </a:xfrm>
          <a:prstGeom prst="roundRect">
            <a:avLst>
              <a:gd name="adj" fmla="val 6250"/>
            </a:avLst>
          </a:prstGeom>
          <a:solidFill>
            <a:srgbClr val="16213A"/>
          </a:solidFill>
          <a:ln w="9525">
            <a:solidFill>
              <a:srgbClr val="16213A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45936" y="1554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₹4.10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345936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cost per kWh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45936" y="24871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incl. DSM, against a ₹6.53 average tariff</a:t>
            </a:r>
            <a:endParaRPr lang="en-US" sz="1050" dirty="0"/>
          </a:p>
        </p:txBody>
      </p:sp>
      <p:sp>
        <p:nvSpPr>
          <p:cNvPr id="16" name="stat card"/>
          <p:cNvSpPr/>
          <p:nvPr/>
        </p:nvSpPr>
        <p:spPr>
          <a:xfrm>
            <a:off x="8970264" y="1508760"/>
            <a:ext cx="2633472" cy="1463040"/>
          </a:xfrm>
          <a:prstGeom prst="roundRect">
            <a:avLst>
              <a:gd name="adj" fmla="val 6250"/>
            </a:avLst>
          </a:prstGeom>
          <a:solidFill>
            <a:srgbClr val="16213A"/>
          </a:solidFill>
          <a:ln w="9525">
            <a:solidFill>
              <a:srgbClr val="16213A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53144" y="1554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9153144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CO₂ per MWh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53144" y="24871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28% clean-energy share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2004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could be worth: illustrative annual sizing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548640" y="3611880"/>
          <a:ext cx="6766560" cy="17373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 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improved by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 cost per unit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₹2,900 crore a year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 lower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7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₹29 crore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DSM charges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₹101 crore a year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lower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7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 crore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Curtailed renewable energy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GWh a year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half recovered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7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 crore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548640" y="54864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from this simulated day to a full year. These are sizing examples, not measured savings: a real figure needs the DISCOM's own baseline.</a:t>
            </a:r>
            <a:endParaRPr lang="en-US" sz="1100" dirty="0"/>
          </a:p>
        </p:txBody>
      </p:sp>
      <p:sp>
        <p:nvSpPr>
          <p:cNvPr id="23" name="card"/>
          <p:cNvSpPr/>
          <p:nvPr/>
        </p:nvSpPr>
        <p:spPr>
          <a:xfrm>
            <a:off x="7543800" y="3200400"/>
            <a:ext cx="411480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7772400" y="3273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rupees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0" y="3703320"/>
            <a:ext cx="3703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B1220"/>
                </a:solidFill>
              </a:rPr>
              <a:t>Faster response: </a:t>
            </a:r>
            <a:r>
              <a:rPr lang="en-US" sz="1200" dirty="0">
                <a:solidFill>
                  <a:srgbClr val="33415C"/>
                </a:solidFill>
              </a:rPr>
              <a:t>a re-plan every block instead of a few times a day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B1220"/>
                </a:solidFill>
              </a:rPr>
              <a:t>Fewer surprises: </a:t>
            </a:r>
            <a:r>
              <a:rPr lang="en-US" sz="1200" dirty="0">
                <a:solidFill>
                  <a:srgbClr val="33415C"/>
                </a:solidFill>
              </a:rPr>
              <a:t>forecast error carried as risk bands and reserve, not discovered at settlement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B1220"/>
                </a:solidFill>
              </a:rPr>
              <a:t>Auditable decisions: </a:t>
            </a:r>
            <a:r>
              <a:rPr lang="en-US" sz="1200" dirty="0">
                <a:solidFill>
                  <a:srgbClr val="33415C"/>
                </a:solidFill>
              </a:rPr>
              <a:t>reason, alternative and binding limit for every action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B1220"/>
                </a:solidFill>
              </a:rPr>
              <a:t>Safer renewable growth: </a:t>
            </a:r>
            <a:r>
              <a:rPr lang="en-US" sz="1200" dirty="0">
                <a:solidFill>
                  <a:srgbClr val="33415C"/>
                </a:solidFill>
              </a:rPr>
              <a:t>a place to rehearse trips and storms before they happen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3400" dirty="0"/>
          </a:p>
        </p:txBody>
      </p:sp>
      <p:sp>
        <p:nvSpPr>
          <p:cNvPr id="3" name="scale card"/>
          <p:cNvSpPr/>
          <p:nvPr/>
        </p:nvSpPr>
        <p:spPr>
          <a:xfrm>
            <a:off x="548640" y="1371600"/>
            <a:ext cx="3566160" cy="3520440"/>
          </a:xfrm>
          <a:prstGeom prst="roundRect">
            <a:avLst>
              <a:gd name="adj" fmla="val 3117"/>
            </a:avLst>
          </a:prstGeom>
          <a:solidFill>
            <a:srgbClr val="16213A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icon bg"/>
          <p:cNvSpPr/>
          <p:nvPr/>
        </p:nvSpPr>
        <p:spPr>
          <a:xfrm>
            <a:off x="777240" y="1536192"/>
            <a:ext cx="566928" cy="56692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5" name="Image 0" descr="Industry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1677924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508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Bigger portfolios</a:t>
            </a:r>
            <a:endParaRPr lang="en-US" sz="1700" dirty="0"/>
          </a:p>
          <a:p>
            <a:pPr marL="0" indent="0">
              <a:buNone/>
            </a:pPr>
            <a:r>
              <a:rPr lang="en-US" sz="1150" dirty="0">
                <a:solidFill>
                  <a:schemeClr val="accent1"/>
                </a:solidFill>
              </a:rPr>
              <a:t>scale up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31720"/>
            <a:ext cx="31089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6E2F5"/>
                </a:solidFill>
              </a:rPr>
              <a:t>Median re-plan 1.7 s, p95 4.1 s for 11 generators, 2 batteries, 9 customers and 4 corridors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6E2F5"/>
                </a:solidFill>
              </a:rPr>
              <a:t>Calm days skip ranked stages already at their bound, so most solves are fast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6E2F5"/>
                </a:solidFill>
              </a:rPr>
              <a:t>Two solver lanes, a 45 s watchdog and an "approximate" plan if the budget runs out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6E2F5"/>
                </a:solidFill>
              </a:rPr>
              <a:t>Next: split the model by corridor, and swap in a commercial solver for very large fleets</a:t>
            </a:r>
            <a:endParaRPr lang="en-US" sz="1200" dirty="0"/>
          </a:p>
        </p:txBody>
      </p:sp>
      <p:sp>
        <p:nvSpPr>
          <p:cNvPr id="8" name="scale card"/>
          <p:cNvSpPr/>
          <p:nvPr/>
        </p:nvSpPr>
        <p:spPr>
          <a:xfrm>
            <a:off x="4297680" y="1371600"/>
            <a:ext cx="3566160" cy="3520440"/>
          </a:xfrm>
          <a:prstGeom prst="roundRect">
            <a:avLst>
              <a:gd name="adj" fmla="val 3117"/>
            </a:avLst>
          </a:prstGeom>
          <a:solidFill>
            <a:srgbClr val="16213A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9" name="icon bg"/>
          <p:cNvSpPr/>
          <p:nvPr/>
        </p:nvSpPr>
        <p:spPr>
          <a:xfrm>
            <a:off x="4526280" y="1536192"/>
            <a:ext cx="566928" cy="566928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10" name="Image 1" descr="ProjectDiagram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8012" y="1677924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57800" y="1508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More DISCOMs</a:t>
            </a:r>
            <a:endParaRPr lang="en-US" sz="1700" dirty="0"/>
          </a:p>
          <a:p>
            <a:pPr marL="0" indent="0">
              <a:buNone/>
            </a:pPr>
            <a:r>
              <a:rPr lang="en-US" sz="1150" dirty="0">
                <a:solidFill>
                  <a:schemeClr val="accent5"/>
                </a:solidFill>
              </a:rPr>
              <a:t>scale out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2331720"/>
            <a:ext cx="31089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6E2F5"/>
                </a:solidFill>
              </a:rPr>
              <a:t>One instance per utility, each with its own portfolio, policy file and data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6E2F5"/>
                </a:solidFill>
              </a:rPr>
              <a:t>Priority profiles, thresholds and DSM parameters are configuration, not code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6E2F5"/>
                </a:solidFill>
              </a:rPr>
              <a:t>Next: multi-tenant service with a shared database and a login in front</a:t>
            </a:r>
            <a:endParaRPr lang="en-US" sz="1200" dirty="0"/>
          </a:p>
        </p:txBody>
      </p:sp>
      <p:sp>
        <p:nvSpPr>
          <p:cNvPr id="13" name="scale card"/>
          <p:cNvSpPr/>
          <p:nvPr/>
        </p:nvSpPr>
        <p:spPr>
          <a:xfrm>
            <a:off x="8046720" y="1371600"/>
            <a:ext cx="3566160" cy="3520440"/>
          </a:xfrm>
          <a:prstGeom prst="roundRect">
            <a:avLst>
              <a:gd name="adj" fmla="val 3117"/>
            </a:avLst>
          </a:prstGeom>
          <a:solidFill>
            <a:srgbClr val="16213A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4" name="icon bg"/>
          <p:cNvSpPr/>
          <p:nvPr/>
        </p:nvSpPr>
        <p:spPr>
          <a:xfrm>
            <a:off x="8275320" y="1536192"/>
            <a:ext cx="566928" cy="56692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5" name="Image 2" descr="Databas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7052" y="1677924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06840" y="1508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More data and markets</a:t>
            </a:r>
            <a:endParaRPr lang="en-US" sz="1700" dirty="0"/>
          </a:p>
          <a:p>
            <a:pPr marL="0" indent="0">
              <a:buNone/>
            </a:pPr>
            <a:r>
              <a:rPr lang="en-US" sz="1150" dirty="0">
                <a:solidFill>
                  <a:schemeClr val="accent6"/>
                </a:solidFill>
              </a:rPr>
              <a:t>scale across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275320" y="2331720"/>
            <a:ext cx="31089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6E2F5"/>
                </a:solidFill>
              </a:rPr>
              <a:t>Data connectors are adapters that fail soft and label their status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6E2F5"/>
                </a:solidFill>
              </a:rPr>
              <a:t>Next: SCADA and AMI feeds, exchange APIs, several weather models and ensembles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6E2F5"/>
                </a:solidFill>
              </a:rPr>
              <a:t>Next: state markets, ancillary services and carbon pricing as extra objectives</a:t>
            </a:r>
            <a:endParaRPr lang="en-US" sz="1200" dirty="0"/>
          </a:p>
        </p:txBody>
      </p:sp>
      <p:sp>
        <p:nvSpPr>
          <p:cNvPr id="18" name="scale band"/>
          <p:cNvSpPr/>
          <p:nvPr/>
        </p:nvSpPr>
        <p:spPr>
          <a:xfrm>
            <a:off x="548640" y="507492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1E2D4D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77240" y="507492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Built today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D6E2F5"/>
                </a:solidFill>
              </a:rPr>
              <a:t>Rolling 96-block planner, worker-thread solver, verified plans, audit log, policy file, soft-failing data feeds, live deployment on Railway</a:t>
            </a:r>
            <a:endParaRPr lang="en-US" sz="1400" dirty="0"/>
          </a:p>
        </p:txBody>
      </p:sp>
      <p:sp>
        <p:nvSpPr>
          <p:cNvPr id="20" name="scale band"/>
          <p:cNvSpPr/>
          <p:nvPr/>
        </p:nvSpPr>
        <p:spPr>
          <a:xfrm>
            <a:off x="6172200" y="507492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1E2D4D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400800" y="507492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To add for production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D6E2F5"/>
                </a:solidFill>
              </a:rPr>
              <a:t>Login and roles, input validation, database instead of a state file, more than one replica, SCADA and AMI links, real DSM bands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8FA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64167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GridPilot turns a renewable-rich, uncertain grid into a plan that is cost-aware, reliable, auditable and fast.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0815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290815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https://gridpilot-production-2fe6.up.railway.app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4823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354823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github.com/sharifa2708/GridPilot</a:t>
            </a:r>
            <a:endParaRPr lang="en-US" sz="1400" dirty="0"/>
          </a:p>
        </p:txBody>
      </p:sp>
      <p:sp>
        <p:nvSpPr>
          <p:cNvPr id="8" name="frame cuts_top.png"/>
          <p:cNvSpPr/>
          <p:nvPr/>
        </p:nvSpPr>
        <p:spPr>
          <a:xfrm>
            <a:off x="6629400" y="1526702"/>
            <a:ext cx="5074920" cy="3713155"/>
          </a:xfrm>
          <a:prstGeom prst="roundRect">
            <a:avLst>
              <a:gd name="adj" fmla="val 1478"/>
            </a:avLst>
          </a:prstGeom>
          <a:solidFill>
            <a:srgbClr val="22304A"/>
          </a:solidFill>
          <a:ln w="6350">
            <a:solidFill>
              <a:srgbClr val="22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pic>
        <p:nvPicPr>
          <p:cNvPr id="9" name="cuts_top.png" descr="GridPilot during a short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1572422"/>
            <a:ext cx="4983480" cy="362171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FA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GridPilot sits: D3 and F3</a:t>
            </a:r>
            <a:endParaRPr lang="en-US" sz="3400" dirty="0"/>
          </a:p>
        </p:txBody>
      </p:sp>
      <p:sp>
        <p:nvSpPr>
          <p:cNvPr id="3" name="panel"/>
          <p:cNvSpPr/>
          <p:nvPr/>
        </p:nvSpPr>
        <p:spPr>
          <a:xfrm>
            <a:off x="548640" y="1325880"/>
            <a:ext cx="5440680" cy="3246120"/>
          </a:xfrm>
          <a:prstGeom prst="roundRect">
            <a:avLst>
              <a:gd name="adj" fmla="val 3944"/>
            </a:avLst>
          </a:prstGeom>
          <a:solidFill>
            <a:srgbClr val="16213A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4173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14630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autonomy, level 3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18745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decides and acts inside guardrails; people handle exceptions.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1460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6E2F5"/>
                </a:solidFill>
              </a:rPr>
              <a:t>Hard constraints re-checked on every plan before it is shown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6E2F5"/>
                </a:solidFill>
              </a:rPr>
              <a:t>Autonomous or supervised mode; demand response and maintenance changes can require approval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6E2F5"/>
                </a:solidFill>
              </a:rPr>
              <a:t>Each action carries its reason, criterion and the rejected alternative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6E2F5"/>
                </a:solidFill>
              </a:rPr>
              <a:t>Full audit trail of situation, profile, binding constraints and selection</a:t>
            </a:r>
            <a:endParaRPr lang="en-US" sz="1350" dirty="0"/>
          </a:p>
        </p:txBody>
      </p:sp>
      <p:sp>
        <p:nvSpPr>
          <p:cNvPr id="8" name="panel"/>
          <p:cNvSpPr/>
          <p:nvPr/>
        </p:nvSpPr>
        <p:spPr>
          <a:xfrm>
            <a:off x="6172200" y="1325880"/>
            <a:ext cx="5440680" cy="3246120"/>
          </a:xfrm>
          <a:prstGeom prst="roundRect">
            <a:avLst>
              <a:gd name="adj" fmla="val 3944"/>
            </a:avLst>
          </a:prstGeom>
          <a:solidFill>
            <a:srgbClr val="16213A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4173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5600" dirty="0"/>
          </a:p>
        </p:txBody>
      </p:sp>
      <p:sp>
        <p:nvSpPr>
          <p:cNvPr id="10" name="Text 8"/>
          <p:cNvSpPr txBox="1"/>
          <p:nvPr/>
        </p:nvSpPr>
        <p:spPr>
          <a:xfrm>
            <a:off x="8001000" y="14630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Foresight, level 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001000" y="18745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Probabilistic, rolling look-ahead rather than a single point forecast.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51460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6E2F5"/>
                </a:solidFill>
              </a:rPr>
              <a:t>96-block horizon re-planned every block with persistence-corrected forecasts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6E2F5"/>
                </a:solidFill>
              </a:rPr>
              <a:t>Reserve sized from solar, wind and load forecast error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6E2F5"/>
                </a:solidFill>
              </a:rPr>
              <a:t>Monte-Carlo risk (P10 to P90) for DAM and RTM plans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6E2F5"/>
                </a:solidFill>
              </a:rPr>
              <a:t>Storm alerts and scenario events anticipated in the plan</a:t>
            </a:r>
            <a:endParaRPr lang="en-US" sz="1350" dirty="0"/>
          </a:p>
        </p:txBody>
      </p:sp>
      <p:sp>
        <p:nvSpPr>
          <p:cNvPr id="13" name="frame cuts_customers.png"/>
          <p:cNvSpPr/>
          <p:nvPr/>
        </p:nvSpPr>
        <p:spPr>
          <a:xfrm>
            <a:off x="502920" y="4828139"/>
            <a:ext cx="2834640" cy="1179362"/>
          </a:xfrm>
          <a:prstGeom prst="roundRect">
            <a:avLst>
              <a:gd name="adj" fmla="val 4652"/>
            </a:avLst>
          </a:prstGeom>
          <a:solidFill>
            <a:srgbClr val="22304A"/>
          </a:solidFill>
          <a:ln w="6350">
            <a:solidFill>
              <a:srgbClr val="22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pic>
        <p:nvPicPr>
          <p:cNvPr id="14" name="cuts_customers.png" descr="Evidence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73859"/>
            <a:ext cx="2743200" cy="108792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3474720" y="475488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in the product: the agent acts, and the pills show exactly whom it reached</a:t>
            </a:r>
            <a:endParaRPr lang="en-US" sz="1200" dirty="0"/>
          </a:p>
        </p:txBody>
      </p:sp>
      <p:sp>
        <p:nvSpPr>
          <p:cNvPr id="16" name="frame plan_mid.png"/>
          <p:cNvSpPr/>
          <p:nvPr/>
        </p:nvSpPr>
        <p:spPr>
          <a:xfrm>
            <a:off x="6252500" y="4709160"/>
            <a:ext cx="2582600" cy="1417320"/>
          </a:xfrm>
          <a:prstGeom prst="roundRect">
            <a:avLst>
              <a:gd name="adj" fmla="val 3871"/>
            </a:avLst>
          </a:prstGeom>
          <a:solidFill>
            <a:srgbClr val="22304A"/>
          </a:solidFill>
          <a:ln w="6350">
            <a:solidFill>
              <a:srgbClr val="22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pic>
        <p:nvPicPr>
          <p:cNvPr id="17" name="plan_mid.png" descr="Evidence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8220" y="4754880"/>
            <a:ext cx="2491160" cy="132588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098280" y="475488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in the product: Monte-Carlo risk bands (P10 to P90) around every plan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6236208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D3 and F3 are our reading of the framework: relabel them to match your rubric. The evidence on this slide stays the same.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FA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inputs</a:t>
            </a:r>
            <a:endParaRPr lang="en-US" sz="3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4361688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Weather: irradiance, wind, temperature, storms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Open-Meteo (free, per asset location)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and wind MW, cooling-driven demand, storm 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All-India demand and generation mix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MeritIndia public dashboard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stress index scaling the price level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 and IEX clearing 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Vidyut Pravah public dashboard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price shown beside the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Day-ahead / real-time prices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 IEX shape + forecast error; IEX MCP file upload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purchases, sales, battery value, DSM reference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/ UPLOAD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and outage 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/ XLSX upload (template provided)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Derates and outages in the plan; agent proposes cheaper windows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Portfolio: assets, customers, corridors, limits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page (editable)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Capacities, ramps, minimum run, tariffs, criticality, flexibility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Rules: DSM, market, reserve, policy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Settings page and policy 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Bands, rates, objective profiles, thresholds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time source, system clock fallback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blocks in 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Public dashboards: reachable from Indian networks; from other regions the app falls back to its modelled values and keeps running.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572768"/>
            <a:ext cx="201168" cy="201168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48132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and settlement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93392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</a:rPr>
              <a:t>15-minute blocks, 96 per day, all times IST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</a:rPr>
              <a:t>DAM bids close 10:00 on D-1; RTM gate is 4 blocks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</a:rPr>
              <a:t>DSM is CERC-2024-inspired and parameterised, not settlement-grade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</a:rPr>
              <a:t>Price cap ₹10/kWh; exchange fee, buy adder and sell deduction as configured</a:t>
            </a:r>
            <a:endParaRPr lang="en-US" sz="1350" dirty="0"/>
          </a:p>
        </p:txBody>
      </p:sp>
      <p:sp>
        <p:nvSpPr>
          <p:cNvPr id="7" name="card"/>
          <p:cNvSpPr/>
          <p:nvPr/>
        </p:nvSpPr>
        <p:spPr>
          <a:xfrm>
            <a:off x="6172200" y="137160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0" y="1572768"/>
            <a:ext cx="201168" cy="201168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20840" y="148132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order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1993392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</a:rPr>
              <a:t>Security is a hard constraint, always first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</a:rPr>
              <a:t>Default ladder: security, reliability, reserve, DSM, cost, renewable use, battery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</a:rPr>
              <a:t>Profiles in a policy file reorder it; edits are validated, not live-edited in the UI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</a:rPr>
              <a:t>Critical customers are never cut by demand response</a:t>
            </a:r>
            <a:endParaRPr lang="en-US" sz="1350" dirty="0"/>
          </a:p>
        </p:txBody>
      </p:sp>
      <p:sp>
        <p:nvSpPr>
          <p:cNvPr id="11" name="card"/>
          <p:cNvSpPr/>
          <p:nvPr/>
        </p:nvSpPr>
        <p:spPr>
          <a:xfrm>
            <a:off x="548640" y="384048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4041648"/>
            <a:ext cx="201168" cy="20116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395020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and grid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462272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</a:rPr>
              <a:t>Frequency modelled at 50 Hz, moved only by the DISCOM's own over/under-drawal (10,000 MW per Hz)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</a:rPr>
              <a:t>Plant follows its schedule inside a block; re-dispatch waits for the next block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</a:rPr>
              <a:t>A tripped unit needs a restart time before returning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</a:rPr>
              <a:t>Portfolio, demand profiles and tariffs are representative, not a specific DISCOM's data</a:t>
            </a:r>
            <a:endParaRPr lang="en-US" sz="1350" dirty="0"/>
          </a:p>
        </p:txBody>
      </p:sp>
      <p:sp>
        <p:nvSpPr>
          <p:cNvPr id="15" name="card"/>
          <p:cNvSpPr/>
          <p:nvPr/>
        </p:nvSpPr>
        <p:spPr>
          <a:xfrm>
            <a:off x="6172200" y="384048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6213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4041648"/>
            <a:ext cx="201168" cy="201168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20840" y="395020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4462272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</a:rPr>
              <a:t>Weather is real; demand and prices are modelled from calibrated shapes with forecast error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</a:rPr>
              <a:t>IEX and Grid-India files are loaded by upload (no open API)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</a:rPr>
              <a:t>Forecast error is correlated noise plus a day-level bias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</a:rPr>
              <a:t>Customer criticality and flexibility are configuration inputs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idPilot">
  <a:themeElements>
    <a:clrScheme name="GridPilot">
      <a:dk1>
        <a:srgbClr val="0B1220"/>
      </a:dk1>
      <a:lt1>
        <a:srgbClr val="FFFFFF"/>
      </a:lt1>
      <a:dk2>
        <a:srgbClr val="16213A"/>
      </a:dk2>
      <a:lt2>
        <a:srgbClr val="F3F6FB"/>
      </a:lt2>
      <a:accent1>
        <a:srgbClr val="3B82F6"/>
      </a:accent1>
      <a:accent2>
        <a:srgbClr val="F5B942"/>
      </a:accent2>
      <a:accent3>
        <a:srgbClr val="2FBF8F"/>
      </a:accent3>
      <a:accent4>
        <a:srgbClr val="F0605D"/>
      </a:accent4>
      <a:accent5>
        <a:srgbClr val="8B7CF6"/>
      </a:accent5>
      <a:accent6>
        <a:srgbClr val="22C5E0"/>
      </a:accent6>
      <a:hlink>
        <a:srgbClr val="3B82F6"/>
      </a:hlink>
      <a:folHlink>
        <a:srgbClr val="8B7CF6"/>
      </a:folHlink>
    </a:clrScheme>
    <a:fontScheme name="GridPilo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4875</Words>
  <Application>Microsoft Office PowerPoint</Application>
  <PresentationFormat>Widescreen</PresentationFormat>
  <Paragraphs>625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GridPilot</vt:lpstr>
      <vt:lpstr>PowerPoint Presentation</vt:lpstr>
      <vt:lpstr>Problem statement</vt:lpstr>
      <vt:lpstr>GridPilot: observe, decide, act and explain, every block</vt:lpstr>
      <vt:lpstr>The Control Room at a glance</vt:lpstr>
      <vt:lpstr>How a decision is made</vt:lpstr>
      <vt:lpstr>Priority order 1: the default ladder</vt:lpstr>
      <vt:lpstr>Priority order 2: the ladder reorders with the situation</vt:lpstr>
      <vt:lpstr>Priority order 3: what happens in a shortage</vt:lpstr>
      <vt:lpstr>Realistic timing: what happens now vs next interval</vt:lpstr>
      <vt:lpstr>Market timing and deviation settlement (DSM)</vt:lpstr>
      <vt:lpstr>DAM / RTM planning workbench</vt:lpstr>
      <vt:lpstr>Scenario Lab: rehearse the bad day</vt:lpstr>
      <vt:lpstr>Every decision comes with a reason</vt:lpstr>
      <vt:lpstr>Running today, and what comes next</vt:lpstr>
      <vt:lpstr>AI models and technologies used</vt:lpstr>
      <vt:lpstr>Business impact</vt:lpstr>
      <vt:lpstr>Scalability</vt:lpstr>
      <vt:lpstr>PowerPoint Presentation</vt:lpstr>
      <vt:lpstr>Where GridPilot sits: D3 and F3</vt:lpstr>
      <vt:lpstr>Data inputs</vt:lpstr>
      <vt:lpstr>Assumptions</vt:lpstr>
    </vt:vector>
  </TitlesOfParts>
  <Company>GridPilot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GridPilot - Agentic Renewable Energy Orchestrator</dc:title>
  <dc:subject>PptxGenJS Presentation</dc:subject>
  <dc:creator>GridPilot</dc:creator>
  <cp:lastModifiedBy>SHIVANGI</cp:lastModifiedBy>
  <cp:revision>1</cp:revision>
  <dcterms:created xsi:type="dcterms:W3CDTF">2026-10-11T05:58:04Z</dcterms:created>
  <dcterms:modified xsi:type="dcterms:W3CDTF">2026-10-11T11:45:11Z</dcterms:modified>
</cp:coreProperties>
</file>